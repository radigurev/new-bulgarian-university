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521" r:id="rId4"/>
    <p:sldId id="524" r:id="rId5"/>
    <p:sldId id="530" r:id="rId6"/>
    <p:sldId id="526" r:id="rId7"/>
    <p:sldId id="536" r:id="rId8"/>
    <p:sldId id="543" r:id="rId9"/>
    <p:sldId id="544" r:id="rId10"/>
    <p:sldId id="545" r:id="rId11"/>
    <p:sldId id="546" r:id="rId12"/>
    <p:sldId id="540" r:id="rId13"/>
    <p:sldId id="542" r:id="rId14"/>
    <p:sldId id="548" r:id="rId15"/>
    <p:sldId id="551" r:id="rId16"/>
    <p:sldId id="552" r:id="rId17"/>
    <p:sldId id="556" r:id="rId18"/>
    <p:sldId id="554" r:id="rId19"/>
    <p:sldId id="549" r:id="rId20"/>
    <p:sldId id="550" r:id="rId21"/>
    <p:sldId id="30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C1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46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F26A4-3D0C-4F46-9E17-23A17F4C1F18}" type="datetimeFigureOut">
              <a:rPr lang="bg-BG" smtClean="0"/>
              <a:t>2.10.2020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37892-EBC3-40FE-B04E-4AB54202977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043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F6E2-930B-4D3F-AA22-87A9BFA33EC6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358B-8B28-4968-AF9F-2548E5758FCC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1444-3193-4684-8666-C4B6B80732D1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AFBC-BC02-4151-94E7-DE32C5B289F9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86C-3D32-4A4F-BBEA-07E55B6F8A3C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1394-07B9-4C2C-9CF2-AE4CE436CFC4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E95E-6310-4C1D-8E8A-E1CF2650E143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8A5940-9D6F-44F2-BF6C-D077A3A132F5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3ED5-624B-4FA7-AE2E-F44F8CD3CEE5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8A96-A7FC-4EBC-BD1E-D756D136F746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997E-0AED-4623-B8EF-425E1B40E9E7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94312-28F8-481C-BAD0-9E7BC9DC1C73}" type="datetime1">
              <a:rPr lang="en-US" smtClean="0"/>
              <a:t>10/2/2020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kostadinov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958-C2AE-4D86-96E8-03438CB17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256521" cy="3566160"/>
          </a:xfrm>
        </p:spPr>
        <p:txBody>
          <a:bodyPr>
            <a:normAutofit/>
          </a:bodyPr>
          <a:lstStyle/>
          <a:p>
            <a:r>
              <a:rPr lang="en-US" sz="7200" dirty="0" smtClean="0"/>
              <a:t>CSCB869 </a:t>
            </a:r>
            <a:r>
              <a:rPr lang="ru-RU" sz="7200" dirty="0" smtClean="0"/>
              <a:t>Java</a:t>
            </a:r>
            <a:r>
              <a:rPr lang="en-US" sz="7200" dirty="0" smtClean="0"/>
              <a:t> Web Services</a:t>
            </a:r>
            <a:endParaRPr lang="bg-BG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9F8A0-9612-49E7-BA45-800CC9C5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858093"/>
          </a:xfrm>
        </p:spPr>
        <p:txBody>
          <a:bodyPr>
            <a:normAutofit/>
          </a:bodyPr>
          <a:lstStyle/>
          <a:p>
            <a:r>
              <a:rPr lang="bg-BG" sz="4500" b="1" dirty="0"/>
              <a:t>Гл. ас. д-р Христина Костадинова</a:t>
            </a:r>
          </a:p>
          <a:p>
            <a:r>
              <a:rPr lang="en-US" sz="4500" b="1" cap="none" dirty="0" smtClean="0">
                <a:hlinkClick r:id="rId2"/>
              </a:rPr>
              <a:t>hkostadinova@gmail.com</a:t>
            </a:r>
            <a:endParaRPr lang="en-US" b="1" cap="none" dirty="0" smtClean="0"/>
          </a:p>
          <a:p>
            <a:endParaRPr lang="en-US" cap="none" dirty="0" smtClean="0"/>
          </a:p>
          <a:p>
            <a:pPr marL="457200" indent="-457200">
              <a:buFont typeface="+mj-lt"/>
              <a:buAutoNum type="arabicPeriod"/>
            </a:pPr>
            <a:endParaRPr lang="bg-BG" dirty="0" smtClean="0"/>
          </a:p>
          <a:p>
            <a:endParaRPr lang="en-US" cap="none" dirty="0" smtClean="0"/>
          </a:p>
          <a:p>
            <a:endParaRPr lang="en-US" cap="none" dirty="0"/>
          </a:p>
          <a:p>
            <a:endParaRPr lang="bg-BG" cap="none" dirty="0"/>
          </a:p>
          <a:p>
            <a:endParaRPr lang="bg-BG" cap="none" dirty="0"/>
          </a:p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B05C-EC2B-4E5D-9A21-5D0F4F1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B013-361F-457E-8D52-A618DD6B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45696-2A7D-40F5-A6B8-D2E5F2B03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5113" indent="-265113"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dirty="0" smtClean="0"/>
              <a:t>Какво е уеб услуга?</a:t>
            </a:r>
            <a:endParaRPr lang="en-US" dirty="0"/>
          </a:p>
          <a:p>
            <a:pPr marL="265113" indent="-265113"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dirty="0" smtClean="0"/>
              <a:t>Предимства </a:t>
            </a:r>
            <a:r>
              <a:rPr lang="bg-BG" dirty="0" smtClean="0"/>
              <a:t>на уеб услугите</a:t>
            </a:r>
            <a:endParaRPr lang="en-US" dirty="0"/>
          </a:p>
          <a:p>
            <a:pPr marL="265113" indent="-265113"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dirty="0" smtClean="0"/>
              <a:t>Архитектура на уеб услугите</a:t>
            </a:r>
            <a:endParaRPr lang="en-US" dirty="0"/>
          </a:p>
          <a:p>
            <a:pPr marL="265113" indent="-265113"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dirty="0" smtClean="0"/>
              <a:t>Характеристики на уеб услугите</a:t>
            </a:r>
            <a:endParaRPr lang="en-US" dirty="0" smtClean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3E63B-C847-4CD4-8A6A-03FCC4F0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47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B013-361F-457E-8D52-A618DD6B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Уеб услуга (</a:t>
            </a:r>
            <a:r>
              <a:rPr lang="en-US" dirty="0" smtClean="0"/>
              <a:t>Web Service</a:t>
            </a:r>
            <a:r>
              <a:rPr lang="bg-BG" dirty="0" smtClean="0"/>
              <a:t>)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45696-2A7D-40F5-A6B8-D2E5F2B0363B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892175" algn="l"/>
              </a:tabLst>
            </a:pPr>
            <a:r>
              <a:rPr lang="bg-BG" sz="2400" b="1" dirty="0"/>
              <a:t>Уеб </a:t>
            </a:r>
            <a:r>
              <a:rPr lang="bg-BG" sz="2400" b="1" dirty="0" smtClean="0"/>
              <a:t>услуга </a:t>
            </a:r>
            <a:r>
              <a:rPr lang="bg-BG" sz="2400" b="1" dirty="0"/>
              <a:t>(</a:t>
            </a:r>
            <a:r>
              <a:rPr lang="en-US" sz="2400" b="1" dirty="0"/>
              <a:t>Web Service)</a:t>
            </a:r>
            <a:r>
              <a:rPr lang="en-US" sz="2400" dirty="0" smtClean="0"/>
              <a:t> </a:t>
            </a:r>
            <a:r>
              <a:rPr lang="bg-BG" sz="2400" dirty="0" smtClean="0"/>
              <a:t>:</a:t>
            </a:r>
          </a:p>
          <a:p>
            <a:pPr marL="265113" indent="-265113"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sz="2400" dirty="0"/>
              <a:t>С</a:t>
            </a:r>
            <a:r>
              <a:rPr lang="bg-BG" sz="2400" dirty="0" smtClean="0"/>
              <a:t>тандартизиран начин (средство) за </a:t>
            </a:r>
            <a:r>
              <a:rPr lang="bg-BG" sz="2400" b="1" dirty="0" smtClean="0"/>
              <a:t>комуникация</a:t>
            </a:r>
            <a:r>
              <a:rPr lang="bg-BG" sz="2400" dirty="0" smtClean="0"/>
              <a:t> между клиентските и сървърните приложения в уеб</a:t>
            </a:r>
          </a:p>
          <a:p>
            <a:pPr marL="265113" indent="-265113"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sz="2400" dirty="0" smtClean="0"/>
              <a:t>Софтуерен модул, който е създаден </a:t>
            </a:r>
            <a:r>
              <a:rPr lang="bg-BG" sz="2400" dirty="0"/>
              <a:t>д</a:t>
            </a:r>
            <a:r>
              <a:rPr lang="bg-BG" sz="2400" dirty="0" smtClean="0"/>
              <a:t>а </a:t>
            </a:r>
            <a:r>
              <a:rPr lang="bg-BG" sz="2400" b="1" dirty="0" smtClean="0"/>
              <a:t>изпълнява множество задачи</a:t>
            </a:r>
          </a:p>
          <a:p>
            <a:pPr marL="265113" indent="-265113"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sz="2400" dirty="0" smtClean="0"/>
              <a:t>Може да бъде </a:t>
            </a:r>
            <a:r>
              <a:rPr lang="bg-BG" sz="2400" b="1" dirty="0" smtClean="0"/>
              <a:t>търсена и извиквана в уеб</a:t>
            </a:r>
          </a:p>
          <a:p>
            <a:pPr marL="265113" indent="-265113"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sz="2400" dirty="0" smtClean="0"/>
              <a:t>Предоставя </a:t>
            </a:r>
            <a:r>
              <a:rPr lang="bg-BG" sz="2400" b="1" dirty="0" smtClean="0"/>
              <a:t>функционалност на клиента</a:t>
            </a:r>
            <a:r>
              <a:rPr lang="bg-BG" sz="2400" dirty="0" smtClean="0"/>
              <a:t>, който я извиква </a:t>
            </a:r>
          </a:p>
          <a:p>
            <a:pPr marL="265113" indent="-265113">
              <a:buFont typeface="Wingdings" panose="05000000000000000000" pitchFamily="2" charset="2"/>
              <a:buChar char="§"/>
              <a:tabLst>
                <a:tab pos="892175" algn="l"/>
              </a:tabLst>
            </a:pPr>
            <a:endParaRPr lang="bg-BG" sz="2400" dirty="0" smtClean="0"/>
          </a:p>
          <a:p>
            <a:pPr marL="0" indent="0">
              <a:buNone/>
              <a:tabLst>
                <a:tab pos="892175" algn="l"/>
              </a:tabLst>
            </a:pPr>
            <a:endParaRPr lang="bg-BG" sz="2400" dirty="0" smtClean="0"/>
          </a:p>
          <a:p>
            <a:pPr marL="0" indent="0">
              <a:buNone/>
              <a:tabLst>
                <a:tab pos="892175" algn="l"/>
              </a:tabLst>
            </a:pPr>
            <a:endParaRPr lang="bg-BG" sz="2400" dirty="0"/>
          </a:p>
          <a:p>
            <a:pPr marL="0" indent="0">
              <a:buNone/>
              <a:tabLst>
                <a:tab pos="892175" algn="l"/>
              </a:tabLst>
            </a:pPr>
            <a:endParaRPr lang="bg-BG" sz="2400" dirty="0" smtClean="0"/>
          </a:p>
          <a:p>
            <a:pPr marL="0" indent="0">
              <a:buNone/>
              <a:tabLst>
                <a:tab pos="892175" algn="l"/>
              </a:tabLst>
            </a:pPr>
            <a:endParaRPr lang="bg-BG" sz="2400" dirty="0"/>
          </a:p>
          <a:p>
            <a:pPr marL="0" indent="0">
              <a:buNone/>
              <a:tabLst>
                <a:tab pos="892175" algn="l"/>
              </a:tabLst>
            </a:pPr>
            <a:endParaRPr lang="bg-BG" sz="2400" dirty="0" smtClean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3E63B-C847-4CD4-8A6A-03FCC4F0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7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B013-361F-457E-8D52-A618DD6B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400" dirty="0" smtClean="0"/>
              <a:t>Архитектура на Уеб услуга (</a:t>
            </a:r>
            <a:r>
              <a:rPr lang="en-US" sz="4400" dirty="0" smtClean="0"/>
              <a:t>Web Service</a:t>
            </a:r>
            <a:r>
              <a:rPr lang="bg-BG" sz="4400" dirty="0" smtClean="0"/>
              <a:t>)</a:t>
            </a:r>
            <a:endParaRPr lang="bg-BG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3E63B-C847-4CD4-8A6A-03FCC4F0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542" y="2248990"/>
            <a:ext cx="2917372" cy="291737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524" y="2248990"/>
            <a:ext cx="2910840" cy="2910840"/>
          </a:xfrm>
          <a:prstGeom prst="rect">
            <a:avLst/>
          </a:prstGeom>
        </p:spPr>
      </p:pic>
      <p:sp>
        <p:nvSpPr>
          <p:cNvPr id="15" name="Left Arrow 14"/>
          <p:cNvSpPr/>
          <p:nvPr/>
        </p:nvSpPr>
        <p:spPr>
          <a:xfrm>
            <a:off x="4466095" y="2248990"/>
            <a:ext cx="3265715" cy="631371"/>
          </a:xfrm>
          <a:prstGeom prst="leftArrow">
            <a:avLst/>
          </a:prstGeom>
          <a:solidFill>
            <a:srgbClr val="81C19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Left Arrow 15"/>
          <p:cNvSpPr/>
          <p:nvPr/>
        </p:nvSpPr>
        <p:spPr>
          <a:xfrm rot="10800000">
            <a:off x="4778827" y="4632961"/>
            <a:ext cx="3265715" cy="631371"/>
          </a:xfrm>
          <a:prstGeom prst="leftArrow">
            <a:avLst/>
          </a:prstGeom>
          <a:solidFill>
            <a:srgbClr val="81C19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4778826" y="5443741"/>
            <a:ext cx="351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Заявка от клиента към сървъра</a:t>
            </a:r>
            <a:endParaRPr lang="bg-BG" dirty="0"/>
          </a:p>
        </p:txBody>
      </p:sp>
      <p:sp>
        <p:nvSpPr>
          <p:cNvPr id="18" name="TextBox 17"/>
          <p:cNvSpPr txBox="1"/>
          <p:nvPr/>
        </p:nvSpPr>
        <p:spPr>
          <a:xfrm>
            <a:off x="4528457" y="1776735"/>
            <a:ext cx="351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Отговор от сървъра към клиента</a:t>
            </a:r>
            <a:endParaRPr lang="bg-BG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783" y="2809446"/>
            <a:ext cx="1513431" cy="15134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28604" y="4224254"/>
            <a:ext cx="111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Интернет</a:t>
            </a:r>
            <a:endParaRPr lang="bg-BG" dirty="0"/>
          </a:p>
        </p:txBody>
      </p:sp>
      <p:sp>
        <p:nvSpPr>
          <p:cNvPr id="21" name="TextBox 20"/>
          <p:cNvSpPr txBox="1"/>
          <p:nvPr/>
        </p:nvSpPr>
        <p:spPr>
          <a:xfrm>
            <a:off x="2256351" y="5259075"/>
            <a:ext cx="88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Клиент</a:t>
            </a:r>
            <a:endParaRPr lang="bg-BG" dirty="0"/>
          </a:p>
        </p:txBody>
      </p:sp>
      <p:sp>
        <p:nvSpPr>
          <p:cNvPr id="22" name="TextBox 21"/>
          <p:cNvSpPr txBox="1"/>
          <p:nvPr/>
        </p:nvSpPr>
        <p:spPr>
          <a:xfrm>
            <a:off x="8044542" y="5189847"/>
            <a:ext cx="362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Сървър, който </a:t>
            </a:r>
            <a:r>
              <a:rPr lang="bg-BG" dirty="0" err="1" smtClean="0"/>
              <a:t>хоства</a:t>
            </a:r>
            <a:r>
              <a:rPr lang="bg-BG" dirty="0" smtClean="0"/>
              <a:t> уеб услугата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248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B013-361F-457E-8D52-A618DD6B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400" b="1" dirty="0" smtClean="0"/>
              <a:t>Уеб услуги - предимства</a:t>
            </a:r>
            <a:endParaRPr lang="bg-BG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3E63B-C847-4CD4-8A6A-03FCC4F0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2E45696-2A7D-40F5-A6B8-D2E5F2B03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  <a:noFill/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sz="2400" b="1" dirty="0" smtClean="0"/>
              <a:t>Представяне на бизнес функционалност в Интернет</a:t>
            </a:r>
            <a:r>
              <a:rPr lang="bg-BG" sz="2400" dirty="0" smtClean="0"/>
              <a:t> </a:t>
            </a:r>
            <a:r>
              <a:rPr lang="en-US" sz="2400" dirty="0" smtClean="0"/>
              <a:t>– </a:t>
            </a:r>
            <a:r>
              <a:rPr lang="bg-BG" sz="2400" dirty="0" smtClean="0"/>
              <a:t>управляван код, който предоставя функционалности на клиента</a:t>
            </a:r>
            <a:r>
              <a:rPr lang="en-US" sz="2400" dirty="0" smtClean="0"/>
              <a:t>.</a:t>
            </a:r>
            <a:endParaRPr lang="bg-BG" sz="2400" dirty="0" smtClean="0"/>
          </a:p>
          <a:p>
            <a:pPr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sz="2400" b="1" dirty="0" smtClean="0"/>
              <a:t>Съвместимост между приложения</a:t>
            </a:r>
            <a:r>
              <a:rPr lang="en-US" sz="2400" dirty="0" smtClean="0"/>
              <a:t> – </a:t>
            </a:r>
            <a:r>
              <a:rPr lang="bg-BG" sz="2400" dirty="0" smtClean="0"/>
              <a:t>позволява различни приложения (писани на различни езици) да обменят данни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bg-BG" sz="2400" b="1" dirty="0" smtClean="0"/>
              <a:t>Използване на стандартизиран протокол</a:t>
            </a:r>
            <a:r>
              <a:rPr lang="bg-BG" sz="2400" dirty="0" smtClean="0"/>
              <a:t>, който всички разбират</a:t>
            </a:r>
            <a:r>
              <a:rPr lang="en-US" sz="2400" dirty="0" smtClean="0"/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1458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B013-361F-457E-8D52-A618DD6B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400" dirty="0" smtClean="0"/>
              <a:t>Видове Уеб услуги (</a:t>
            </a:r>
            <a:r>
              <a:rPr lang="en-US" sz="4400" dirty="0" smtClean="0"/>
              <a:t>Web Service</a:t>
            </a:r>
            <a:r>
              <a:rPr lang="en-US" sz="4400" dirty="0"/>
              <a:t>s</a:t>
            </a:r>
            <a:r>
              <a:rPr lang="bg-BG" sz="4400" dirty="0" smtClean="0"/>
              <a:t>)</a:t>
            </a:r>
            <a:endParaRPr lang="bg-BG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3E63B-C847-4CD4-8A6A-03FCC4F0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2E45696-2A7D-40F5-A6B8-D2E5F2B03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  <a:noFill/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tabLst>
                <a:tab pos="892175" algn="l"/>
              </a:tabLst>
            </a:pPr>
            <a:r>
              <a:rPr lang="en-US" b="1" dirty="0"/>
              <a:t>SOAP</a:t>
            </a:r>
            <a:r>
              <a:rPr lang="en-US" dirty="0"/>
              <a:t> </a:t>
            </a:r>
            <a:r>
              <a:rPr lang="en-US" b="1" dirty="0"/>
              <a:t>(Simple Object Access Protocol</a:t>
            </a:r>
            <a:r>
              <a:rPr lang="en-US" b="1" dirty="0" smtClean="0"/>
              <a:t>)</a:t>
            </a:r>
            <a:r>
              <a:rPr lang="bg-BG" b="1" dirty="0" smtClean="0"/>
              <a:t> </a:t>
            </a:r>
            <a:r>
              <a:rPr lang="bg-BG" dirty="0" smtClean="0"/>
              <a:t>уеб услуги</a:t>
            </a:r>
            <a:endParaRPr lang="en-US" dirty="0"/>
          </a:p>
          <a:p>
            <a:pPr marL="457200" indent="-457200">
              <a:buFont typeface="+mj-lt"/>
              <a:buAutoNum type="arabicPeriod"/>
              <a:tabLst>
                <a:tab pos="892175" algn="l"/>
              </a:tabLst>
            </a:pPr>
            <a:r>
              <a:rPr lang="en-US" b="1" dirty="0" smtClean="0"/>
              <a:t>RESTful (</a:t>
            </a:r>
            <a:r>
              <a:rPr lang="en-US" b="1" dirty="0" err="1"/>
              <a:t>REpresentational</a:t>
            </a:r>
            <a:r>
              <a:rPr lang="en-US" b="1" dirty="0"/>
              <a:t> State Transfer</a:t>
            </a:r>
            <a:r>
              <a:rPr lang="en-US" b="1" dirty="0" smtClean="0"/>
              <a:t>)</a:t>
            </a:r>
            <a:r>
              <a:rPr lang="en-US" dirty="0" smtClean="0"/>
              <a:t> </a:t>
            </a:r>
            <a:r>
              <a:rPr lang="bg-BG" dirty="0" smtClean="0"/>
              <a:t>уеб услуги</a:t>
            </a:r>
          </a:p>
          <a:p>
            <a:pPr marL="0" indent="0">
              <a:buNone/>
              <a:tabLst>
                <a:tab pos="892175" algn="l"/>
              </a:tabLst>
            </a:pPr>
            <a:endParaRPr lang="bg-BG" dirty="0"/>
          </a:p>
          <a:p>
            <a:pPr marL="0" indent="0">
              <a:buNone/>
              <a:tabLst>
                <a:tab pos="892175" algn="l"/>
              </a:tabLst>
            </a:pPr>
            <a:endParaRPr lang="bg-BG" dirty="0" smtClean="0"/>
          </a:p>
          <a:p>
            <a:pPr marL="0" indent="0">
              <a:buNone/>
              <a:tabLst>
                <a:tab pos="892175" algn="l"/>
              </a:tabLst>
            </a:pPr>
            <a:endParaRPr lang="bg-BG" dirty="0"/>
          </a:p>
          <a:p>
            <a:pPr marL="0" indent="0">
              <a:buNone/>
              <a:tabLst>
                <a:tab pos="892175" algn="l"/>
              </a:tabLst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76998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RESTful</a:t>
            </a:r>
            <a:r>
              <a:rPr lang="bg-BG" dirty="0" smtClean="0"/>
              <a:t> (</a:t>
            </a:r>
            <a:r>
              <a:rPr lang="en-US" dirty="0" err="1" smtClean="0"/>
              <a:t>REpresentational</a:t>
            </a:r>
            <a:r>
              <a:rPr lang="en-US" dirty="0" smtClean="0"/>
              <a:t> State Transfer</a:t>
            </a:r>
            <a:r>
              <a:rPr lang="bg-BG" dirty="0" smtClean="0"/>
              <a:t>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REST </a:t>
            </a:r>
            <a:r>
              <a:rPr lang="bg-BG" dirty="0" smtClean="0"/>
              <a:t>е архитектура, базирана на </a:t>
            </a:r>
            <a:r>
              <a:rPr lang="en-US" dirty="0" smtClean="0"/>
              <a:t> </a:t>
            </a:r>
            <a:r>
              <a:rPr lang="en-US" dirty="0"/>
              <a:t>web </a:t>
            </a:r>
            <a:r>
              <a:rPr lang="bg-BG" dirty="0" smtClean="0"/>
              <a:t>стандарти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REST </a:t>
            </a:r>
            <a:r>
              <a:rPr lang="bg-BG" dirty="0" smtClean="0"/>
              <a:t>използва</a:t>
            </a:r>
            <a:r>
              <a:rPr lang="en-US" dirty="0" smtClean="0"/>
              <a:t> </a:t>
            </a:r>
            <a:r>
              <a:rPr lang="en-US" dirty="0"/>
              <a:t>HTTP </a:t>
            </a:r>
            <a:r>
              <a:rPr lang="bg-BG" dirty="0" smtClean="0"/>
              <a:t>протокол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REST </a:t>
            </a:r>
            <a:r>
              <a:rPr lang="bg-BG" dirty="0" smtClean="0"/>
              <a:t>изпълнява действия с  ресурси, които се достъпват през стандартни </a:t>
            </a:r>
            <a:r>
              <a:rPr lang="en-US" dirty="0" smtClean="0"/>
              <a:t>HTTP </a:t>
            </a:r>
            <a:r>
              <a:rPr lang="bg-BG" dirty="0" smtClean="0"/>
              <a:t>методи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REST </a:t>
            </a:r>
            <a:r>
              <a:rPr lang="bg-BG" dirty="0" smtClean="0"/>
              <a:t> е представен за първи път от </a:t>
            </a:r>
            <a:r>
              <a:rPr lang="en-US" dirty="0" smtClean="0"/>
              <a:t>Roy </a:t>
            </a:r>
            <a:r>
              <a:rPr lang="en-US" dirty="0"/>
              <a:t>Fielding </a:t>
            </a:r>
            <a:r>
              <a:rPr lang="bg-BG" dirty="0" smtClean="0"/>
              <a:t>през</a:t>
            </a:r>
            <a:r>
              <a:rPr lang="en-US" dirty="0" smtClean="0"/>
              <a:t> 2000</a:t>
            </a:r>
            <a:r>
              <a:rPr lang="bg-BG" dirty="0" smtClean="0"/>
              <a:t>г.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bg-BG" dirty="0" smtClean="0"/>
              <a:t>Клиентът на услугата може да достъпва и модифицира ресурсите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bg-BG" dirty="0" smtClean="0"/>
              <a:t>Всеки ресурс се идентифицира чрез </a:t>
            </a:r>
            <a:r>
              <a:rPr lang="en-US" dirty="0" smtClean="0"/>
              <a:t>URI </a:t>
            </a:r>
            <a:r>
              <a:rPr lang="bg-BG" dirty="0" smtClean="0"/>
              <a:t>глобални идентификатори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REST </a:t>
            </a:r>
            <a:r>
              <a:rPr lang="bg-BG" dirty="0" smtClean="0"/>
              <a:t>използва различни типове представяния на ресурсите:</a:t>
            </a:r>
            <a:r>
              <a:rPr lang="en-US" dirty="0" smtClean="0"/>
              <a:t> </a:t>
            </a:r>
            <a:r>
              <a:rPr lang="en-US" dirty="0"/>
              <a:t>text, JSON, </a:t>
            </a:r>
            <a:r>
              <a:rPr lang="en-US" dirty="0" smtClean="0"/>
              <a:t>XML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486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RESTful</a:t>
            </a:r>
            <a:r>
              <a:rPr lang="bg-BG" dirty="0" smtClean="0"/>
              <a:t> </a:t>
            </a:r>
            <a:r>
              <a:rPr lang="en-US" dirty="0" smtClean="0"/>
              <a:t>web service </a:t>
            </a:r>
            <a:r>
              <a:rPr lang="bg-BG" dirty="0" smtClean="0"/>
              <a:t>- Ресурси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886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bg-BG" dirty="0" smtClean="0"/>
              <a:t>Ресурс е всяко съдържание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bg-BG" dirty="0" smtClean="0"/>
              <a:t>Ресурсите могат да бъдат: текстови файлове</a:t>
            </a:r>
            <a:r>
              <a:rPr lang="en-US" dirty="0" smtClean="0"/>
              <a:t>, </a:t>
            </a:r>
            <a:r>
              <a:rPr lang="en-US" dirty="0"/>
              <a:t>h</a:t>
            </a:r>
            <a:r>
              <a:rPr lang="en-US" dirty="0" smtClean="0"/>
              <a:t>tml </a:t>
            </a:r>
            <a:r>
              <a:rPr lang="bg-BG" dirty="0" smtClean="0"/>
              <a:t>страници</a:t>
            </a:r>
            <a:r>
              <a:rPr lang="en-US" dirty="0" smtClean="0"/>
              <a:t>, </a:t>
            </a:r>
            <a:r>
              <a:rPr lang="bg-BG" dirty="0" smtClean="0"/>
              <a:t>изображения</a:t>
            </a:r>
            <a:r>
              <a:rPr lang="en-US" dirty="0" smtClean="0"/>
              <a:t>, </a:t>
            </a:r>
            <a:r>
              <a:rPr lang="bg-BG" dirty="0" smtClean="0"/>
              <a:t>видеа и т.н.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REST </a:t>
            </a:r>
            <a:r>
              <a:rPr lang="bg-BG" dirty="0" smtClean="0"/>
              <a:t>сървърът предоставя достъп до ресурсите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REST </a:t>
            </a:r>
            <a:r>
              <a:rPr lang="bg-BG" dirty="0" smtClean="0"/>
              <a:t>клиентът достъпва и модифицира ресурсите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bg-BG" dirty="0" smtClean="0"/>
              <a:t>Всеки ресурс се идентифицира чрез </a:t>
            </a:r>
            <a:r>
              <a:rPr lang="en-US" dirty="0" smtClean="0"/>
              <a:t>URI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bg-BG" dirty="0" smtClean="0"/>
              <a:t>Представянето на данните най-често се осъществява под формата на</a:t>
            </a:r>
            <a:r>
              <a:rPr lang="en-US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JSON (</a:t>
            </a:r>
            <a:r>
              <a:rPr lang="en-US" dirty="0" err="1" smtClean="0"/>
              <a:t>Javascript</a:t>
            </a:r>
            <a:r>
              <a:rPr lang="en-US" dirty="0" smtClean="0"/>
              <a:t> Object Notation) </a:t>
            </a:r>
          </a:p>
          <a:p>
            <a:pPr marL="201168" lvl="1" indent="0">
              <a:buNone/>
            </a:pPr>
            <a:r>
              <a:rPr lang="en-US" dirty="0"/>
              <a:t>{ </a:t>
            </a:r>
          </a:p>
          <a:p>
            <a:pPr marL="201168" lvl="1" indent="0">
              <a:buNone/>
            </a:pPr>
            <a:r>
              <a:rPr lang="en-US" dirty="0"/>
              <a:t>   "id":1, </a:t>
            </a:r>
          </a:p>
          <a:p>
            <a:pPr marL="201168" lvl="1" indent="0">
              <a:buNone/>
            </a:pPr>
            <a:r>
              <a:rPr lang="en-US" dirty="0"/>
              <a:t>   "</a:t>
            </a:r>
            <a:r>
              <a:rPr lang="en-US" dirty="0" err="1"/>
              <a:t>name</a:t>
            </a:r>
            <a:r>
              <a:rPr lang="en-US" dirty="0" err="1" smtClean="0"/>
              <a:t>":“Ivan</a:t>
            </a:r>
            <a:r>
              <a:rPr lang="en-US" dirty="0" smtClean="0"/>
              <a:t>", </a:t>
            </a:r>
            <a:endParaRPr lang="en-US" dirty="0"/>
          </a:p>
          <a:p>
            <a:pPr marL="201168" lvl="1" indent="0">
              <a:buNone/>
            </a:pPr>
            <a:r>
              <a:rPr lang="en-US" dirty="0"/>
              <a:t>   </a:t>
            </a:r>
            <a:r>
              <a:rPr lang="en-US" dirty="0" smtClean="0"/>
              <a:t>“</a:t>
            </a:r>
            <a:r>
              <a:rPr lang="en-US" dirty="0" err="1" smtClean="0"/>
              <a:t>profession":”Software</a:t>
            </a:r>
            <a:r>
              <a:rPr lang="en-US" dirty="0" smtClean="0"/>
              <a:t> Engineer" </a:t>
            </a:r>
            <a:endParaRPr lang="en-US" dirty="0"/>
          </a:p>
          <a:p>
            <a:pPr marL="201168" lvl="1" indent="0">
              <a:buNone/>
            </a:pPr>
            <a:r>
              <a:rPr lang="en-US" dirty="0" smtClean="0"/>
              <a:t>}</a:t>
            </a:r>
          </a:p>
          <a:p>
            <a:pPr marL="201168" lvl="1" indent="0">
              <a:buNone/>
            </a:pP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5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RESTful</a:t>
            </a:r>
            <a:r>
              <a:rPr lang="bg-BG" dirty="0" smtClean="0"/>
              <a:t> </a:t>
            </a:r>
            <a:r>
              <a:rPr lang="en-US" dirty="0" smtClean="0"/>
              <a:t>web service </a:t>
            </a:r>
            <a:r>
              <a:rPr lang="bg-BG" dirty="0" smtClean="0"/>
              <a:t>- Ресурси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335866"/>
          </a:xfrm>
          <a:noFill/>
        </p:spPr>
        <p:txBody>
          <a:bodyPr>
            <a:normAutofit/>
          </a:bodyPr>
          <a:lstStyle/>
          <a:p>
            <a:r>
              <a:rPr lang="bg-BG" sz="2400" b="1" dirty="0" smtClean="0"/>
              <a:t>Разбираемост</a:t>
            </a:r>
            <a:r>
              <a:rPr lang="en-US" sz="2400" dirty="0"/>
              <a:t> − </a:t>
            </a:r>
            <a:r>
              <a:rPr lang="bg-BG" sz="2400" dirty="0" smtClean="0"/>
              <a:t>и сървърът и клиентът трябва да разбират формата на ресурсите</a:t>
            </a:r>
            <a:r>
              <a:rPr lang="en-US" sz="2400" dirty="0" smtClean="0"/>
              <a:t>.</a:t>
            </a:r>
            <a:endParaRPr lang="bg-BG" sz="2400" dirty="0" smtClean="0"/>
          </a:p>
          <a:p>
            <a:r>
              <a:rPr lang="bg-BG" sz="2400" b="1" dirty="0" smtClean="0"/>
              <a:t>Завършеност</a:t>
            </a:r>
            <a:r>
              <a:rPr lang="en-US" sz="2400" dirty="0"/>
              <a:t> − </a:t>
            </a:r>
            <a:r>
              <a:rPr lang="bg-BG" sz="2400" dirty="0" smtClean="0"/>
              <a:t>форматът трябва да може да представя завършени ресурси</a:t>
            </a:r>
            <a:r>
              <a:rPr lang="en-US" sz="2400" dirty="0" smtClean="0"/>
              <a:t>. </a:t>
            </a:r>
            <a:r>
              <a:rPr lang="bg-BG" sz="2400" dirty="0" smtClean="0"/>
              <a:t>Например, форматът трябва да може да представя прости и съставни ресурси</a:t>
            </a:r>
            <a:endParaRPr lang="en-US" sz="2400" dirty="0"/>
          </a:p>
          <a:p>
            <a:r>
              <a:rPr lang="bg-BG" sz="2400" b="1" dirty="0" smtClean="0"/>
              <a:t>Свързаност</a:t>
            </a:r>
            <a:r>
              <a:rPr lang="en-US" sz="2400" dirty="0"/>
              <a:t> − </a:t>
            </a:r>
            <a:r>
              <a:rPr lang="bg-BG" sz="2400" dirty="0" smtClean="0"/>
              <a:t>ресурсът трябва да бъде свързан с другите ресурси, форматът трябва да може да управлява такива ситуации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877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RESTful </a:t>
            </a:r>
            <a:r>
              <a:rPr lang="bg-BG" dirty="0" smtClean="0"/>
              <a:t>–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HTTP Request</a:t>
            </a:r>
            <a:r>
              <a:rPr lang="bg-BG" dirty="0" smtClean="0">
                <a:solidFill>
                  <a:schemeClr val="tx1"/>
                </a:solidFill>
              </a:rPr>
              <a:t> (заявка)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217426" y="2242459"/>
            <a:ext cx="3995057" cy="35378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spcAft>
                <a:spcPts val="1200"/>
              </a:spcAft>
            </a:pPr>
            <a:r>
              <a:rPr lang="en-US" dirty="0" smtClean="0">
                <a:solidFill>
                  <a:schemeClr val="tx1"/>
                </a:solidFill>
              </a:rPr>
              <a:t>HTTP Request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93626" y="2492829"/>
            <a:ext cx="1034143" cy="4136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Verb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75665" y="2492828"/>
            <a:ext cx="1034143" cy="4136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URI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57704" y="2492828"/>
            <a:ext cx="1667693" cy="4136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HTTP VERSION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93626" y="3167743"/>
            <a:ext cx="3831771" cy="8599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Request Header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93625" y="4326468"/>
            <a:ext cx="3831771" cy="8599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Request Body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1097280" y="2046514"/>
            <a:ext cx="5847806" cy="4278086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b="1" dirty="0"/>
              <a:t>Verb</a:t>
            </a:r>
            <a:r>
              <a:rPr lang="en-US" dirty="0"/>
              <a:t> − </a:t>
            </a:r>
            <a:r>
              <a:rPr lang="bg-BG" dirty="0" smtClean="0"/>
              <a:t>определя</a:t>
            </a:r>
            <a:r>
              <a:rPr lang="en-US" dirty="0" smtClean="0"/>
              <a:t> </a:t>
            </a:r>
            <a:r>
              <a:rPr lang="en-US" dirty="0"/>
              <a:t>HTTP </a:t>
            </a:r>
            <a:r>
              <a:rPr lang="bg-BG" dirty="0" smtClean="0"/>
              <a:t>методите:</a:t>
            </a:r>
            <a:r>
              <a:rPr lang="en-US" dirty="0" smtClean="0"/>
              <a:t> </a:t>
            </a:r>
            <a:r>
              <a:rPr lang="en-US" dirty="0"/>
              <a:t>GET, POST, DELETE, </a:t>
            </a:r>
            <a:r>
              <a:rPr lang="en-US" dirty="0" smtClean="0"/>
              <a:t>PUT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b="1" dirty="0"/>
              <a:t>URI</a:t>
            </a:r>
            <a:r>
              <a:rPr lang="en-US" dirty="0"/>
              <a:t> − Uniform Resource Identifier (URI) </a:t>
            </a:r>
            <a:r>
              <a:rPr lang="bg-BG" dirty="0" smtClean="0"/>
              <a:t>за идентифициране на ресурса на сървъра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b="1" dirty="0"/>
              <a:t>HTTP Version</a:t>
            </a:r>
            <a:r>
              <a:rPr lang="en-US" dirty="0"/>
              <a:t> − </a:t>
            </a:r>
            <a:r>
              <a:rPr lang="bg-BG" dirty="0" smtClean="0"/>
              <a:t>определя версията на</a:t>
            </a:r>
            <a:r>
              <a:rPr lang="en-US" dirty="0" smtClean="0"/>
              <a:t> HTTP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b="1" dirty="0"/>
              <a:t>Request Header</a:t>
            </a:r>
            <a:r>
              <a:rPr lang="en-US" dirty="0"/>
              <a:t> − </a:t>
            </a:r>
            <a:r>
              <a:rPr lang="bg-BG" dirty="0" smtClean="0"/>
              <a:t>метаданни под формата на ключ-стойност за</a:t>
            </a:r>
            <a:r>
              <a:rPr lang="en-US" dirty="0" smtClean="0"/>
              <a:t> </a:t>
            </a:r>
            <a:r>
              <a:rPr lang="en-US" dirty="0"/>
              <a:t>HTTP </a:t>
            </a:r>
            <a:r>
              <a:rPr lang="bg-BG" dirty="0" smtClean="0"/>
              <a:t>заявката</a:t>
            </a:r>
            <a:r>
              <a:rPr lang="bg-BG" dirty="0"/>
              <a:t> </a:t>
            </a:r>
            <a:r>
              <a:rPr lang="bg-BG" dirty="0" smtClean="0"/>
              <a:t>(типът на браузера, формата на тялото на съобщението и др.)</a:t>
            </a:r>
          </a:p>
          <a:p>
            <a:pPr>
              <a:spcBef>
                <a:spcPts val="1800"/>
              </a:spcBef>
            </a:pPr>
            <a:r>
              <a:rPr lang="en-US" b="1" dirty="0" smtClean="0"/>
              <a:t>Request </a:t>
            </a:r>
            <a:r>
              <a:rPr lang="en-US" b="1" dirty="0"/>
              <a:t>Body</a:t>
            </a:r>
            <a:r>
              <a:rPr lang="en-US" dirty="0"/>
              <a:t> − </a:t>
            </a:r>
            <a:r>
              <a:rPr lang="bg-BG" dirty="0" smtClean="0"/>
              <a:t>съдържанието на съобщението или представянето на ресурса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99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RESTful </a:t>
            </a:r>
            <a:r>
              <a:rPr lang="bg-BG" dirty="0" smtClean="0"/>
              <a:t>–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HTTP Response</a:t>
            </a:r>
            <a:r>
              <a:rPr lang="bg-BG" dirty="0" smtClean="0">
                <a:solidFill>
                  <a:schemeClr val="tx1"/>
                </a:solidFill>
              </a:rPr>
              <a:t> (отговор)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160623" y="2144487"/>
            <a:ext cx="3995057" cy="35378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spcAft>
                <a:spcPts val="1200"/>
              </a:spcAft>
            </a:pPr>
            <a:r>
              <a:rPr lang="en-US" dirty="0" smtClean="0">
                <a:solidFill>
                  <a:schemeClr val="tx1"/>
                </a:solidFill>
              </a:rPr>
              <a:t>HTTP Response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236823" y="2394857"/>
            <a:ext cx="1809206" cy="4136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Response Code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22229" y="2394856"/>
            <a:ext cx="1946365" cy="4136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HTTP VERSION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36823" y="3069771"/>
            <a:ext cx="3831771" cy="8599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Response </a:t>
            </a:r>
            <a:r>
              <a:rPr lang="en-US" dirty="0" smtClean="0">
                <a:solidFill>
                  <a:schemeClr val="tx1"/>
                </a:solidFill>
              </a:rPr>
              <a:t>Header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36822" y="4228496"/>
            <a:ext cx="3831771" cy="8599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Response </a:t>
            </a:r>
            <a:r>
              <a:rPr lang="en-US" dirty="0" smtClean="0">
                <a:solidFill>
                  <a:schemeClr val="tx1"/>
                </a:solidFill>
              </a:rPr>
              <a:t>Body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7280" y="2140133"/>
            <a:ext cx="5793377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Status/Response</a:t>
            </a:r>
            <a:r>
              <a:rPr lang="bg-BG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Code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−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определя статуса на отговора от сървъра (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404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ресурсът не е намерен или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200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отговорът е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OK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HTTP Version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−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определя версията на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 HTTP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Response Header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−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съдържа метаданни под формата на двойка ключ-стойност за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HTTP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съобщението-отговор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( дължина на съдържанието, тип на съдържанието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дата на отговор, тип на сървър и др.)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Response Body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−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съдържанието на съобщението или представянето на ресурса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728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 </a:t>
            </a:r>
            <a:r>
              <a:rPr lang="bg-BG" dirty="0" smtClean="0"/>
              <a:t>методи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098205"/>
              </p:ext>
            </p:extLst>
          </p:nvPr>
        </p:nvGraphicFramePr>
        <p:xfrm>
          <a:off x="1040160" y="2031321"/>
          <a:ext cx="10115519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60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3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1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72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HTTP </a:t>
                      </a:r>
                      <a:r>
                        <a:rPr lang="bg-BG" dirty="0" smtClean="0"/>
                        <a:t>метод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CRUD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SQL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Описание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Примерен</a:t>
                      </a:r>
                      <a:r>
                        <a:rPr lang="bg-BG" baseline="0" dirty="0" smtClean="0"/>
                        <a:t> </a:t>
                      </a:r>
                      <a:r>
                        <a:rPr lang="en-US" dirty="0" smtClean="0"/>
                        <a:t>URI</a:t>
                      </a:r>
                      <a:endParaRPr lang="bg-B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726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GET</a:t>
                      </a:r>
                      <a:endParaRPr lang="bg-BG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Read</a:t>
                      </a:r>
                      <a:endParaRPr lang="bg-BG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SELECT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Четене</a:t>
                      </a:r>
                      <a:r>
                        <a:rPr lang="bg-BG" baseline="0" dirty="0" smtClean="0"/>
                        <a:t> на данни за всички книги 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http://localhost:8080/BookManagement/rest/BookService/books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726">
                <a:tc vMerge="1">
                  <a:txBody>
                    <a:bodyPr/>
                    <a:lstStyle/>
                    <a:p>
                      <a:endParaRPr lang="bg-BG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bg-BG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dirty="0" smtClean="0"/>
                        <a:t>Четене</a:t>
                      </a:r>
                      <a:r>
                        <a:rPr lang="bg-BG" baseline="0" dirty="0" smtClean="0"/>
                        <a:t> на данни за книга с </a:t>
                      </a:r>
                      <a:r>
                        <a:rPr lang="en-US" baseline="0" dirty="0" smtClean="0"/>
                        <a:t>id=5</a:t>
                      </a:r>
                      <a:r>
                        <a:rPr lang="bg-BG" baseline="0" dirty="0" smtClean="0"/>
                        <a:t> </a:t>
                      </a:r>
                      <a:r>
                        <a:rPr lang="en-US" dirty="0" smtClean="0"/>
                        <a:t>Read</a:t>
                      </a:r>
                      <a:endParaRPr lang="bg-BG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http://localhost:8080/BookManagement/rest/BookService/books/5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726">
                <a:tc>
                  <a:txBody>
                    <a:bodyPr/>
                    <a:lstStyle/>
                    <a:p>
                      <a:r>
                        <a:rPr lang="en-US" dirty="0" smtClean="0"/>
                        <a:t>POST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Create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INSERT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Добавяне</a:t>
                      </a:r>
                      <a:r>
                        <a:rPr lang="bg-BG" baseline="0" dirty="0" smtClean="0"/>
                        <a:t> на книга с </a:t>
                      </a:r>
                      <a:r>
                        <a:rPr lang="en-US" baseline="0" dirty="0" smtClean="0"/>
                        <a:t>id=7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http://localhost:8080/BookManagement/rest/BookService/books/7</a:t>
                      </a:r>
                      <a:endParaRPr lang="bg-BG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7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PUT</a:t>
                      </a:r>
                      <a:endParaRPr lang="bg-BG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Update</a:t>
                      </a:r>
                      <a:endParaRPr lang="bg-BG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UPDATE</a:t>
                      </a:r>
                      <a:endParaRPr lang="bg-BG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baseline="0" dirty="0" smtClean="0"/>
                        <a:t>Промяна на данни за книга с </a:t>
                      </a:r>
                      <a:r>
                        <a:rPr lang="en-US" baseline="0" dirty="0" smtClean="0"/>
                        <a:t>id=7</a:t>
                      </a:r>
                      <a:endParaRPr lang="bg-BG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http://localhost:8080/BookManagement/rest/BookService/books/7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726">
                <a:tc>
                  <a:txBody>
                    <a:bodyPr/>
                    <a:lstStyle/>
                    <a:p>
                      <a:r>
                        <a:rPr lang="en-US" dirty="0" smtClean="0"/>
                        <a:t>DELETE 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Delete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DELETE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Изтриване на книга с </a:t>
                      </a:r>
                      <a:r>
                        <a:rPr lang="en-US" dirty="0" smtClean="0"/>
                        <a:t>id=7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http://localhost:8080/BookManagement/rest/BookService/books/7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681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 </a:t>
            </a:r>
            <a:r>
              <a:rPr lang="bg-BG" dirty="0" smtClean="0"/>
              <a:t>методи</a:t>
            </a:r>
            <a:r>
              <a:rPr lang="en-US" dirty="0" smtClean="0"/>
              <a:t> – </a:t>
            </a:r>
            <a:r>
              <a:rPr lang="bg-BG" dirty="0" smtClean="0"/>
              <a:t>възникване на грешки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40160" y="2031321"/>
          <a:ext cx="10357183" cy="373752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4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6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2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72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HTTP </a:t>
                      </a:r>
                      <a:r>
                        <a:rPr lang="bg-BG" dirty="0" smtClean="0"/>
                        <a:t>метод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Целия</a:t>
                      </a:r>
                      <a:r>
                        <a:rPr lang="bg-BG" sz="1800" b="1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списък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(e.g. /books)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Един</a:t>
                      </a:r>
                      <a:r>
                        <a:rPr lang="bg-BG" sz="1800" b="1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елемент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(e.g. /books/{id})</a:t>
                      </a:r>
                      <a:endParaRPr lang="bg-B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726">
                <a:tc>
                  <a:txBody>
                    <a:bodyPr/>
                    <a:lstStyle/>
                    <a:p>
                      <a:r>
                        <a:rPr lang="en-US" dirty="0" smtClean="0"/>
                        <a:t>GET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200 (OK), </a:t>
                      </a:r>
                      <a:r>
                        <a:rPr lang="bg-BG" dirty="0" smtClean="0">
                          <a:effectLst/>
                        </a:rPr>
                        <a:t>списък от книги</a:t>
                      </a:r>
                      <a:r>
                        <a:rPr lang="en-US" dirty="0" smtClean="0">
                          <a:effectLst/>
                        </a:rPr>
                        <a:t>. </a:t>
                      </a:r>
                      <a:r>
                        <a:rPr lang="bg-BG" dirty="0" smtClean="0">
                          <a:effectLst/>
                        </a:rPr>
                        <a:t>Използва се </a:t>
                      </a:r>
                      <a:r>
                        <a:rPr lang="bg-BG" dirty="0" err="1" smtClean="0">
                          <a:effectLst/>
                        </a:rPr>
                        <a:t>странициране</a:t>
                      </a:r>
                      <a:r>
                        <a:rPr lang="bg-BG" dirty="0" smtClean="0">
                          <a:effectLst/>
                        </a:rPr>
                        <a:t>,</a:t>
                      </a:r>
                      <a:r>
                        <a:rPr lang="bg-BG" baseline="0" dirty="0" smtClean="0">
                          <a:effectLst/>
                        </a:rPr>
                        <a:t> сортиране и филтриране</a:t>
                      </a:r>
                      <a:r>
                        <a:rPr lang="en-US" dirty="0" smtClean="0">
                          <a:effectLst/>
                        </a:rPr>
                        <a:t>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200 (OK), </a:t>
                      </a:r>
                      <a:r>
                        <a:rPr lang="bg-BG" dirty="0" smtClean="0">
                          <a:effectLst/>
                        </a:rPr>
                        <a:t>една книга</a:t>
                      </a:r>
                      <a:r>
                        <a:rPr lang="en-US" dirty="0" smtClean="0">
                          <a:effectLst/>
                        </a:rPr>
                        <a:t>. </a:t>
                      </a:r>
                      <a:r>
                        <a:rPr lang="en-US" dirty="0">
                          <a:effectLst/>
                        </a:rPr>
                        <a:t>404 (Not Found), </a:t>
                      </a:r>
                      <a:r>
                        <a:rPr lang="bg-BG" dirty="0" smtClean="0">
                          <a:effectLst/>
                        </a:rPr>
                        <a:t>ако </a:t>
                      </a:r>
                      <a:r>
                        <a:rPr lang="en-US" dirty="0" smtClean="0">
                          <a:effectLst/>
                        </a:rPr>
                        <a:t>id-</a:t>
                      </a:r>
                      <a:r>
                        <a:rPr lang="bg-BG" dirty="0" smtClean="0">
                          <a:effectLst/>
                        </a:rPr>
                        <a:t>то</a:t>
                      </a:r>
                      <a:r>
                        <a:rPr lang="bg-BG" baseline="0" dirty="0" smtClean="0">
                          <a:effectLst/>
                        </a:rPr>
                        <a:t> не е намерено или е невалидно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726">
                <a:tc>
                  <a:txBody>
                    <a:bodyPr/>
                    <a:lstStyle/>
                    <a:p>
                      <a:r>
                        <a:rPr lang="en-US" dirty="0" smtClean="0"/>
                        <a:t>POST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201 (Created), 'Location' header </a:t>
                      </a:r>
                      <a:r>
                        <a:rPr lang="bg-BG" dirty="0" smtClean="0">
                          <a:effectLst/>
                        </a:rPr>
                        <a:t>линк към</a:t>
                      </a:r>
                      <a:r>
                        <a:rPr lang="en-US" dirty="0" smtClean="0">
                          <a:effectLst/>
                        </a:rPr>
                        <a:t> /books/{</a:t>
                      </a:r>
                      <a:r>
                        <a:rPr lang="en-US" dirty="0">
                          <a:effectLst/>
                        </a:rPr>
                        <a:t>id} </a:t>
                      </a:r>
                      <a:r>
                        <a:rPr lang="bg-BG" dirty="0" smtClean="0">
                          <a:effectLst/>
                        </a:rPr>
                        <a:t>съдържащ</a:t>
                      </a:r>
                      <a:r>
                        <a:rPr lang="bg-BG" baseline="0" dirty="0" smtClean="0">
                          <a:effectLst/>
                        </a:rPr>
                        <a:t> новото</a:t>
                      </a:r>
                      <a:r>
                        <a:rPr lang="en-US" dirty="0" smtClean="0">
                          <a:effectLst/>
                        </a:rPr>
                        <a:t> id.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404 (Not Found), 409 (Conflict) </a:t>
                      </a:r>
                      <a:r>
                        <a:rPr lang="bg-BG" dirty="0" smtClean="0">
                          <a:effectLst/>
                        </a:rPr>
                        <a:t>ако ресурса вече съществува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7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PUT</a:t>
                      </a:r>
                      <a:endParaRPr lang="bg-BG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405 (Method Not Allowed), </a:t>
                      </a:r>
                      <a:r>
                        <a:rPr lang="ru-RU" dirty="0" smtClean="0">
                          <a:effectLst/>
                        </a:rPr>
                        <a:t>освен ако не искате да обновите / замените всеки ресурс в цялата колекция</a:t>
                      </a:r>
                      <a:r>
                        <a:rPr lang="en-US" dirty="0" smtClean="0">
                          <a:effectLst/>
                        </a:rPr>
                        <a:t> </a:t>
                      </a:r>
                      <a:r>
                        <a:rPr lang="en-US" dirty="0" smtClean="0">
                          <a:effectLst/>
                          <a:sym typeface="Wingdings" panose="05000000000000000000" pitchFamily="2" charset="2"/>
                        </a:rPr>
                        <a:t></a:t>
                      </a:r>
                      <a:r>
                        <a:rPr lang="ru-RU" dirty="0" smtClean="0">
                          <a:effectLst/>
                        </a:rPr>
                        <a:t>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200 (OK) </a:t>
                      </a:r>
                      <a:r>
                        <a:rPr lang="bg-BG" dirty="0" smtClean="0">
                          <a:effectLst/>
                        </a:rPr>
                        <a:t>или</a:t>
                      </a:r>
                      <a:r>
                        <a:rPr lang="en-US" dirty="0" smtClean="0">
                          <a:effectLst/>
                        </a:rPr>
                        <a:t> </a:t>
                      </a:r>
                      <a:r>
                        <a:rPr lang="en-US" dirty="0">
                          <a:effectLst/>
                        </a:rPr>
                        <a:t>204 (No Content). 404 (Not Found), </a:t>
                      </a:r>
                      <a:r>
                        <a:rPr lang="bg-BG" dirty="0" smtClean="0">
                          <a:effectLst/>
                        </a:rPr>
                        <a:t>ако </a:t>
                      </a:r>
                      <a:r>
                        <a:rPr lang="en-US" dirty="0" smtClean="0">
                          <a:effectLst/>
                        </a:rPr>
                        <a:t>id-</a:t>
                      </a:r>
                      <a:r>
                        <a:rPr lang="bg-BG" dirty="0" smtClean="0">
                          <a:effectLst/>
                        </a:rPr>
                        <a:t>то</a:t>
                      </a:r>
                      <a:r>
                        <a:rPr lang="bg-BG" baseline="0" dirty="0" smtClean="0">
                          <a:effectLst/>
                        </a:rPr>
                        <a:t> не е намерено или е невалидно</a:t>
                      </a:r>
                      <a:r>
                        <a:rPr lang="en-US" dirty="0" smtClean="0">
                          <a:effectLst/>
                        </a:rPr>
                        <a:t>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726">
                <a:tc>
                  <a:txBody>
                    <a:bodyPr/>
                    <a:lstStyle/>
                    <a:p>
                      <a:r>
                        <a:rPr lang="en-US" dirty="0" smtClean="0"/>
                        <a:t>DELETE 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bg-BG" dirty="0" smtClean="0">
                          <a:effectLst/>
                        </a:rPr>
                        <a:t>4</a:t>
                      </a:r>
                      <a:r>
                        <a:rPr lang="en-US" dirty="0" smtClean="0">
                          <a:effectLst/>
                        </a:rPr>
                        <a:t>05 </a:t>
                      </a:r>
                      <a:r>
                        <a:rPr lang="en-US" dirty="0">
                          <a:effectLst/>
                        </a:rPr>
                        <a:t>(Method Not Allowed), </a:t>
                      </a:r>
                      <a:r>
                        <a:rPr lang="ru-RU" dirty="0" smtClean="0">
                          <a:effectLst/>
                        </a:rPr>
                        <a:t>освен ако не искате да изтриете цялата колекция - често не е желателно</a:t>
                      </a:r>
                      <a:r>
                        <a:rPr lang="en-US" dirty="0" smtClean="0">
                          <a:effectLst/>
                        </a:rPr>
                        <a:t> </a:t>
                      </a:r>
                      <a:r>
                        <a:rPr lang="en-US" dirty="0" smtClean="0">
                          <a:effectLst/>
                          <a:sym typeface="Wingdings" panose="05000000000000000000" pitchFamily="2" charset="2"/>
                        </a:rPr>
                        <a:t></a:t>
                      </a:r>
                      <a:r>
                        <a:rPr lang="en-US" dirty="0" smtClean="0">
                          <a:effectLst/>
                        </a:rPr>
                        <a:t>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200 (OK). 404 (Not Found), </a:t>
                      </a:r>
                      <a:r>
                        <a:rPr lang="bg-BG" dirty="0" smtClean="0">
                          <a:effectLst/>
                        </a:rPr>
                        <a:t>ако </a:t>
                      </a:r>
                      <a:r>
                        <a:rPr lang="en-US" dirty="0" smtClean="0">
                          <a:effectLst/>
                        </a:rPr>
                        <a:t>id-</a:t>
                      </a:r>
                      <a:r>
                        <a:rPr lang="bg-BG" dirty="0" smtClean="0">
                          <a:effectLst/>
                        </a:rPr>
                        <a:t>то</a:t>
                      </a:r>
                      <a:r>
                        <a:rPr lang="bg-BG" baseline="0" dirty="0" smtClean="0">
                          <a:effectLst/>
                        </a:rPr>
                        <a:t> не е намерено или е невалидно</a:t>
                      </a:r>
                      <a:r>
                        <a:rPr lang="en-US" dirty="0" smtClean="0">
                          <a:effectLst/>
                        </a:rPr>
                        <a:t>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5808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RESTful </a:t>
            </a:r>
            <a:r>
              <a:rPr lang="bg-BG" dirty="0"/>
              <a:t>уеб услуги </a:t>
            </a:r>
            <a:r>
              <a:rPr lang="bg-BG" dirty="0" smtClean="0"/>
              <a:t>–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statelessness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97280" y="1887199"/>
            <a:ext cx="102129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Statelessness –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не се пази състоянието на клиента на сървъра</a:t>
            </a:r>
            <a:endParaRPr lang="en-US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spcBef>
                <a:spcPts val="1800"/>
              </a:spcBef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Предимства на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Statelessness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Уеб услугата може да третира всяка заявка независимо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Уеб услугата не предоставя на клиента предишни </a:t>
            </a:r>
            <a:r>
              <a:rPr lang="bg-BG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интеракции</a:t>
            </a:r>
            <a:r>
              <a:rPr lang="bg-BG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– опростява дизайна на приложението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HTTP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е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statelessness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протокол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RESTful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уеб услугите работят без проблем с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HTTP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протокол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spcBef>
                <a:spcPts val="1800"/>
              </a:spcBef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Недостатъци на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 Statelessness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Уеб услугите се нуждаят от допълнителна информация за всяка заявка и след това интерпретират състоянието на клиента в случаите, когато трябва да се следи състоянието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81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RESTful </a:t>
            </a:r>
            <a:r>
              <a:rPr lang="bg-BG" dirty="0"/>
              <a:t>уеб услуги </a:t>
            </a:r>
            <a:r>
              <a:rPr lang="bg-BG" dirty="0" smtClean="0"/>
              <a:t>–</a:t>
            </a:r>
            <a:r>
              <a:rPr lang="en-US" dirty="0" smtClean="0"/>
              <a:t> </a:t>
            </a:r>
            <a:r>
              <a:rPr lang="bg-BG" dirty="0" err="1" smtClean="0">
                <a:solidFill>
                  <a:schemeClr val="tx1"/>
                </a:solidFill>
              </a:rPr>
              <a:t>кеширане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97280" y="1887199"/>
            <a:ext cx="10212977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bg-BG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Кеширане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 е запазване при клиента на отговора от сървъра, за да не се налага клиентът да прави заявки към сървъра отново и отново</a:t>
            </a:r>
          </a:p>
          <a:p>
            <a:pPr>
              <a:spcBef>
                <a:spcPts val="1800"/>
              </a:spcBef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Отговорът от сървъра съдържа информация как трябва да се направи </a:t>
            </a:r>
            <a:r>
              <a:rPr lang="bg-BG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кеширането</a:t>
            </a:r>
            <a:endParaRPr lang="en-US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856761"/>
              </p:ext>
            </p:extLst>
          </p:nvPr>
        </p:nvGraphicFramePr>
        <p:xfrm>
          <a:off x="2293256" y="3340873"/>
          <a:ext cx="7209971" cy="244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Header</a:t>
                      </a:r>
                      <a:r>
                        <a:rPr lang="bg-BG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bg-BG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effectLst/>
                        </a:rPr>
                        <a:t>Date</a:t>
                      </a:r>
                      <a:r>
                        <a:rPr lang="bg-BG" b="0" baseline="0" dirty="0" smtClean="0">
                          <a:solidFill>
                            <a:srgbClr val="000000"/>
                          </a:solidFill>
                          <a:effectLst/>
                        </a:rPr>
                        <a:t> – кога е създаден ресурса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Last </a:t>
                      </a:r>
                      <a:r>
                        <a:rPr lang="en-US" b="1" dirty="0" smtClean="0">
                          <a:solidFill>
                            <a:srgbClr val="000000"/>
                          </a:solidFill>
                          <a:effectLst/>
                        </a:rPr>
                        <a:t>Modified</a:t>
                      </a:r>
                      <a:r>
                        <a:rPr lang="bg-BG" b="1" dirty="0" smtClean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bg-BG" b="0" dirty="0" smtClean="0">
                          <a:solidFill>
                            <a:srgbClr val="000000"/>
                          </a:solidFill>
                          <a:effectLst/>
                        </a:rPr>
                        <a:t>– кога за последен</a:t>
                      </a:r>
                      <a:r>
                        <a:rPr lang="bg-BG" b="0" baseline="0" dirty="0" smtClean="0">
                          <a:solidFill>
                            <a:srgbClr val="000000"/>
                          </a:solidFill>
                          <a:effectLst/>
                        </a:rPr>
                        <a:t> път е</a:t>
                      </a:r>
                      <a:r>
                        <a:rPr lang="bg-BG" b="0" dirty="0" smtClean="0">
                          <a:solidFill>
                            <a:srgbClr val="000000"/>
                          </a:solidFill>
                          <a:effectLst/>
                        </a:rPr>
                        <a:t> модифициран продукта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effectLst/>
                        </a:rPr>
                        <a:t>Cache-Control</a:t>
                      </a:r>
                      <a:r>
                        <a:rPr lang="bg-BG" b="1" baseline="0" dirty="0" smtClean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bg-BG" b="0" baseline="0" dirty="0" smtClean="0">
                          <a:solidFill>
                            <a:srgbClr val="000000"/>
                          </a:solidFill>
                          <a:effectLst/>
                        </a:rPr>
                        <a:t>– контрол на </a:t>
                      </a:r>
                      <a:r>
                        <a:rPr lang="bg-BG" b="0" baseline="0" dirty="0" err="1" smtClean="0">
                          <a:solidFill>
                            <a:srgbClr val="000000"/>
                          </a:solidFill>
                          <a:effectLst/>
                        </a:rPr>
                        <a:t>кеширането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effectLst/>
                        </a:rPr>
                        <a:t>Expires</a:t>
                      </a:r>
                      <a:r>
                        <a:rPr lang="bg-BG" b="1" dirty="0" smtClean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bg-BG" b="0" dirty="0" smtClean="0">
                          <a:solidFill>
                            <a:srgbClr val="000000"/>
                          </a:solidFill>
                          <a:effectLst/>
                        </a:rPr>
                        <a:t>– дата и</a:t>
                      </a:r>
                      <a:r>
                        <a:rPr lang="bg-BG" b="0" baseline="0" dirty="0" smtClean="0">
                          <a:solidFill>
                            <a:srgbClr val="000000"/>
                          </a:solidFill>
                          <a:effectLst/>
                        </a:rPr>
                        <a:t> час на изтичане на </a:t>
                      </a:r>
                      <a:r>
                        <a:rPr lang="bg-BG" b="0" baseline="0" dirty="0" err="1" smtClean="0">
                          <a:solidFill>
                            <a:srgbClr val="000000"/>
                          </a:solidFill>
                          <a:effectLst/>
                        </a:rPr>
                        <a:t>кеширането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r>
                        <a:rPr lang="bg-BG" b="1" dirty="0" smtClean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bg-BG" b="0" dirty="0" smtClean="0">
                          <a:solidFill>
                            <a:srgbClr val="000000"/>
                          </a:solidFill>
                          <a:effectLst/>
                        </a:rPr>
                        <a:t>– продължителност</a:t>
                      </a:r>
                      <a:r>
                        <a:rPr lang="bg-BG" b="0" baseline="0" dirty="0" smtClean="0">
                          <a:solidFill>
                            <a:srgbClr val="000000"/>
                          </a:solidFill>
                          <a:effectLst/>
                        </a:rPr>
                        <a:t> в секунди кога ресурсът е получен от сървъра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7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RESTful </a:t>
            </a:r>
            <a:r>
              <a:rPr lang="bg-BG" dirty="0"/>
              <a:t>уеб услуги </a:t>
            </a:r>
            <a:r>
              <a:rPr lang="bg-BG" dirty="0" smtClean="0"/>
              <a:t>–</a:t>
            </a:r>
            <a:r>
              <a:rPr lang="en-US" dirty="0" smtClean="0"/>
              <a:t> </a:t>
            </a:r>
            <a:r>
              <a:rPr lang="bg-BG" dirty="0" smtClean="0">
                <a:solidFill>
                  <a:schemeClr val="tx1"/>
                </a:solidFill>
              </a:rPr>
              <a:t>сигурност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97280" y="1887199"/>
            <a:ext cx="10212977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Валидирайте всички входни данни към сървъра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Предпазете сървъра от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SQL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или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NoSQL injection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атаки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Осъществете </a:t>
            </a:r>
            <a:r>
              <a:rPr lang="bg-BG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автентикация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 на базата на сесии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Потребителски имена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пароли, </a:t>
            </a:r>
            <a:r>
              <a:rPr lang="bg-BG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токъни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 не се слагат в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URI,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тези стойности се предават чрез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POST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метода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Валидирайте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XML/JSON −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проверете формата на входните данни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Хвърляйте съобщения за грешки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−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методите на уеб услугите използват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HTTP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съобщения за грешки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(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403 </a:t>
            </a:r>
            <a:r>
              <a:rPr lang="bg-BG" dirty="0">
                <a:solidFill>
                  <a:srgbClr val="000000"/>
                </a:solidFill>
                <a:latin typeface="Verdana" panose="020B0604030504040204" pitchFamily="34" charset="0"/>
              </a:rPr>
              <a:t>забранен </a:t>
            </a:r>
            <a:r>
              <a:rPr lang="bg-BG" dirty="0" smtClean="0">
                <a:solidFill>
                  <a:srgbClr val="000000"/>
                </a:solidFill>
                <a:latin typeface="Verdana" panose="020B0604030504040204" pitchFamily="34" charset="0"/>
              </a:rPr>
              <a:t>достъп)</a:t>
            </a:r>
            <a:endParaRPr lang="en-US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890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RESTful </a:t>
            </a:r>
            <a:r>
              <a:rPr lang="bg-BG" dirty="0" smtClean="0"/>
              <a:t>–</a:t>
            </a:r>
            <a:r>
              <a:rPr lang="en-US" dirty="0" smtClean="0"/>
              <a:t> </a:t>
            </a:r>
            <a:r>
              <a:rPr lang="bg-BG" dirty="0" smtClean="0">
                <a:solidFill>
                  <a:schemeClr val="tx1"/>
                </a:solidFill>
              </a:rPr>
              <a:t>сигурност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682220"/>
              </p:ext>
            </p:extLst>
          </p:nvPr>
        </p:nvGraphicFramePr>
        <p:xfrm>
          <a:off x="1097280" y="1737360"/>
          <a:ext cx="10115203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 </a:t>
                      </a:r>
                      <a:r>
                        <a:rPr lang="bg-BG" sz="16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Код /</a:t>
                      </a:r>
                      <a:r>
                        <a:rPr lang="en-US" sz="16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bg-BG" sz="16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  <a:endParaRPr lang="bg-B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r>
                        <a:rPr lang="en-US" sz="1600" b="1" baseline="0" dirty="0" smtClean="0">
                          <a:solidFill>
                            <a:srgbClr val="000000"/>
                          </a:solidFill>
                          <a:effectLst/>
                        </a:rPr>
                        <a:t> -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 OK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201 - CREATED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− </a:t>
                      </a:r>
                      <a:r>
                        <a:rPr lang="bg-BG" sz="1600" dirty="0" smtClean="0">
                          <a:solidFill>
                            <a:srgbClr val="000000"/>
                          </a:solidFill>
                          <a:effectLst/>
                        </a:rPr>
                        <a:t>ресурсът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е успешно създаден от методи </a:t>
                      </a:r>
                      <a:r>
                        <a:rPr lang="en-US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POST 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и </a:t>
                      </a:r>
                      <a:r>
                        <a:rPr lang="en-US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PUT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204 - NO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CONTENT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− </a:t>
                      </a:r>
                      <a:r>
                        <a:rPr lang="bg-BG" sz="1600" dirty="0" smtClean="0">
                          <a:solidFill>
                            <a:srgbClr val="000000"/>
                          </a:solidFill>
                          <a:effectLst/>
                        </a:rPr>
                        <a:t>няма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съдържание, </a:t>
                      </a:r>
                      <a:r>
                        <a:rPr lang="bg-BG" sz="1600" dirty="0" smtClean="0">
                          <a:solidFill>
                            <a:srgbClr val="000000"/>
                          </a:solidFill>
                          <a:effectLst/>
                        </a:rPr>
                        <a:t>когато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тялото на отговора е празно.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304</a:t>
                      </a:r>
                      <a:r>
                        <a:rPr lang="bg-BG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NOT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MODIFIED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− </a:t>
                      </a:r>
                      <a:r>
                        <a:rPr lang="ru-RU" sz="1600" dirty="0" smtClean="0">
                          <a:solidFill>
                            <a:srgbClr val="000000"/>
                          </a:solidFill>
                          <a:effectLst/>
                        </a:rPr>
                        <a:t>използва се за намаляване на използването на мрежата в случай на условни GET заявки. Тялото на отговора трябва да бъде празно.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r>
                        <a:rPr lang="bg-BG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 -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BAD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REQUEST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− </a:t>
                      </a:r>
                      <a:r>
                        <a:rPr lang="bg-BG" sz="1600" dirty="0" smtClean="0">
                          <a:solidFill>
                            <a:srgbClr val="000000"/>
                          </a:solidFill>
                          <a:effectLst/>
                        </a:rPr>
                        <a:t>невалиден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вход е предоставен (липсващи данни, грешка при валидиране и др.).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401</a:t>
                      </a:r>
                      <a:r>
                        <a:rPr lang="bg-BG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 -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UNAUTHORIZED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− </a:t>
                      </a:r>
                      <a:r>
                        <a:rPr lang="bg-BG" sz="1600" dirty="0" smtClean="0">
                          <a:solidFill>
                            <a:srgbClr val="000000"/>
                          </a:solidFill>
                          <a:effectLst/>
                        </a:rPr>
                        <a:t>използване на невалиден </a:t>
                      </a:r>
                      <a:r>
                        <a:rPr lang="bg-BG" sz="1600" dirty="0" err="1" smtClean="0">
                          <a:solidFill>
                            <a:srgbClr val="000000"/>
                          </a:solidFill>
                          <a:effectLst/>
                        </a:rPr>
                        <a:t>токън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от потребителят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403</a:t>
                      </a:r>
                      <a:r>
                        <a:rPr lang="bg-BG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 -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FORBIDDEN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− </a:t>
                      </a:r>
                      <a:r>
                        <a:rPr lang="bg-BG" sz="1600" dirty="0" smtClean="0">
                          <a:solidFill>
                            <a:srgbClr val="000000"/>
                          </a:solidFill>
                          <a:effectLst/>
                        </a:rPr>
                        <a:t>потребителят няма достъп до методът,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който се използва (няма права да изпълнява определени заявки)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404</a:t>
                      </a:r>
                      <a:r>
                        <a:rPr lang="bg-BG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 -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NOT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FOUND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− </a:t>
                      </a:r>
                      <a:r>
                        <a:rPr lang="bg-BG" sz="1600" dirty="0" smtClean="0">
                          <a:solidFill>
                            <a:srgbClr val="000000"/>
                          </a:solidFill>
                          <a:effectLst/>
                        </a:rPr>
                        <a:t>методът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не е достъпен.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409</a:t>
                      </a:r>
                      <a:r>
                        <a:rPr lang="bg-BG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 -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CONFLICT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− </a:t>
                      </a:r>
                      <a:r>
                        <a:rPr lang="bg-BG" sz="1600" dirty="0" smtClean="0">
                          <a:solidFill>
                            <a:srgbClr val="000000"/>
                          </a:solidFill>
                          <a:effectLst/>
                        </a:rPr>
                        <a:t>конфликтна ситуация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по време на изпълнение на метода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</a:rPr>
                        <a:t>. 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r>
                        <a:rPr lang="bg-BG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 -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</a:rPr>
                        <a:t>INTERNAL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SERVER ERROR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 − </a:t>
                      </a:r>
                      <a:r>
                        <a:rPr lang="bg-BG" sz="1600" dirty="0" smtClean="0">
                          <a:solidFill>
                            <a:srgbClr val="000000"/>
                          </a:solidFill>
                          <a:effectLst/>
                        </a:rPr>
                        <a:t>сървърът хвърля</a:t>
                      </a:r>
                      <a:r>
                        <a:rPr lang="bg-BG" sz="16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изключение по време на изпълнение на метода.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440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RESTful API - Demo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https://developer.spotify.com/console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80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bg-BG" sz="4000" dirty="0"/>
              <a:t>Архитектура ориентирана към услуги - Принципи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97280" y="1887199"/>
            <a:ext cx="1021297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b="1" dirty="0" smtClean="0"/>
              <a:t>Стандартизирано описание на услугата</a:t>
            </a:r>
            <a:r>
              <a:rPr lang="en-US" sz="2000" dirty="0"/>
              <a:t> - </a:t>
            </a:r>
            <a:r>
              <a:rPr lang="ru-RU" sz="2000" dirty="0" smtClean="0"/>
              <a:t>Услугата </a:t>
            </a:r>
            <a:r>
              <a:rPr lang="ru-RU" sz="2000" dirty="0"/>
              <a:t>трябва да има </a:t>
            </a:r>
            <a:r>
              <a:rPr lang="ru-RU" sz="2000" dirty="0" smtClean="0"/>
              <a:t>описание за </a:t>
            </a:r>
            <a:r>
              <a:rPr lang="ru-RU" sz="2000" dirty="0"/>
              <a:t>какво се </a:t>
            </a:r>
            <a:r>
              <a:rPr lang="ru-RU" sz="2000" dirty="0" smtClean="0"/>
              <a:t>отнася. </a:t>
            </a:r>
            <a:r>
              <a:rPr lang="ru-RU" sz="2000" dirty="0"/>
              <a:t>Това улеснява клиентските приложения да разбират какво прави услугата</a:t>
            </a:r>
            <a:r>
              <a:rPr lang="ru-RU" sz="2000" dirty="0" smtClean="0"/>
              <a:t>.</a:t>
            </a:r>
          </a:p>
          <a:p>
            <a:endParaRPr lang="ru-RU" sz="2000" dirty="0" smtClean="0"/>
          </a:p>
          <a:p>
            <a:r>
              <a:rPr lang="bg-BG" sz="2000" b="1" dirty="0" smtClean="0"/>
              <a:t>Малка зависимост на услугата</a:t>
            </a:r>
            <a:r>
              <a:rPr lang="en-US" sz="2000" dirty="0"/>
              <a:t> </a:t>
            </a:r>
            <a:r>
              <a:rPr lang="en-US" sz="2000" dirty="0" smtClean="0"/>
              <a:t>–</a:t>
            </a:r>
            <a:r>
              <a:rPr lang="bg-BG" sz="2000" dirty="0" smtClean="0"/>
              <a:t> </a:t>
            </a:r>
            <a:r>
              <a:rPr lang="ru-RU" sz="2000" dirty="0" smtClean="0"/>
              <a:t>трябва </a:t>
            </a:r>
            <a:r>
              <a:rPr lang="ru-RU" sz="2000" dirty="0"/>
              <a:t>да има колкото се може по-малка зависимост между уеб услугите и клиента, който извиква уеб услугата. </a:t>
            </a:r>
            <a:r>
              <a:rPr lang="ru-RU" sz="2000" dirty="0" smtClean="0"/>
              <a:t>Ако </a:t>
            </a:r>
            <a:r>
              <a:rPr lang="ru-RU" sz="2000" dirty="0"/>
              <a:t>функционалността на услугата се </a:t>
            </a:r>
            <a:r>
              <a:rPr lang="ru-RU" sz="2000" dirty="0" smtClean="0"/>
              <a:t>променя, тя </a:t>
            </a:r>
            <a:r>
              <a:rPr lang="ru-RU" sz="2000" dirty="0"/>
              <a:t>не трябва да прекъсва клиентското </a:t>
            </a:r>
            <a:r>
              <a:rPr lang="ru-RU" sz="2000" dirty="0" smtClean="0"/>
              <a:t>приложение.</a:t>
            </a:r>
          </a:p>
          <a:p>
            <a:endParaRPr lang="en-US" sz="2000" dirty="0"/>
          </a:p>
          <a:p>
            <a:r>
              <a:rPr lang="bg-BG" sz="2000" b="1" dirty="0" smtClean="0"/>
              <a:t>Абстракция на услугата</a:t>
            </a:r>
            <a:r>
              <a:rPr lang="en-US" sz="2000" dirty="0"/>
              <a:t> - </a:t>
            </a:r>
            <a:r>
              <a:rPr lang="ru-RU" sz="2000" dirty="0"/>
              <a:t>Услугите </a:t>
            </a:r>
            <a:r>
              <a:rPr lang="ru-RU" sz="2000" dirty="0" smtClean="0"/>
              <a:t>имплементират логика, </a:t>
            </a:r>
            <a:r>
              <a:rPr lang="ru-RU" sz="2000" dirty="0"/>
              <a:t>която капсулират от външния свят. Услугата не трябва да показва как тя изпълнява функционалността си; трябва просто да кажете на клиентското приложение какво прави, а не как го прави</a:t>
            </a:r>
            <a:r>
              <a:rPr lang="en-US" sz="2000" dirty="0" smtClean="0"/>
              <a:t>.</a:t>
            </a:r>
            <a:endParaRPr lang="bg-BG" sz="2000" dirty="0" smtClean="0"/>
          </a:p>
          <a:p>
            <a:endParaRPr lang="en-US" sz="2000" dirty="0" smtClean="0"/>
          </a:p>
          <a:p>
            <a:r>
              <a:rPr lang="bg-BG" sz="2000" b="1" dirty="0" smtClean="0"/>
              <a:t>Използваемост на услугата</a:t>
            </a:r>
            <a:r>
              <a:rPr lang="en-US" sz="2000" dirty="0"/>
              <a:t> - </a:t>
            </a:r>
            <a:r>
              <a:rPr lang="ru-RU" sz="2000" dirty="0" smtClean="0"/>
              <a:t>Цел е максималното </a:t>
            </a:r>
            <a:r>
              <a:rPr lang="ru-RU" sz="2000" dirty="0"/>
              <a:t>повторно използване. С</a:t>
            </a:r>
            <a:r>
              <a:rPr lang="ru-RU" sz="2000" dirty="0" smtClean="0"/>
              <a:t>лед </a:t>
            </a:r>
            <a:r>
              <a:rPr lang="ru-RU" sz="2000" dirty="0"/>
              <a:t>като кодът за уеб услуга е написан, той трябва да има способността да работи с различни типове приложения.</a:t>
            </a:r>
            <a:endParaRPr lang="en-US" sz="200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720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bg-BG" sz="4000" dirty="0" smtClean="0"/>
              <a:t>Архитектура ориентирана към услуги - Принципи</a:t>
            </a:r>
            <a:endParaRPr lang="bg-BG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97280" y="1887199"/>
            <a:ext cx="1021297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b="1" dirty="0" smtClean="0"/>
              <a:t>Автономност на услугата</a:t>
            </a:r>
            <a:r>
              <a:rPr lang="en-US" sz="2000" dirty="0"/>
              <a:t> - </a:t>
            </a:r>
            <a:r>
              <a:rPr lang="bg-BG" sz="2000" dirty="0" smtClean="0"/>
              <a:t>услугата има пълен контрол върху кода, който съдържа</a:t>
            </a:r>
          </a:p>
          <a:p>
            <a:endParaRPr lang="en-US" sz="2000" dirty="0"/>
          </a:p>
          <a:p>
            <a:r>
              <a:rPr lang="en-US" sz="2000" b="1" dirty="0" smtClean="0"/>
              <a:t>Statelessness</a:t>
            </a:r>
            <a:r>
              <a:rPr lang="en-US" sz="2000" b="1" dirty="0"/>
              <a:t> </a:t>
            </a:r>
            <a:r>
              <a:rPr lang="bg-BG" sz="2000" b="1" dirty="0" smtClean="0"/>
              <a:t>на услугата </a:t>
            </a:r>
            <a:r>
              <a:rPr lang="en-US" sz="2000" dirty="0" smtClean="0"/>
              <a:t>– </a:t>
            </a:r>
            <a:r>
              <a:rPr lang="bg-BG" sz="2000" dirty="0" smtClean="0"/>
              <a:t>услугата не пази информация за преминаване от едно състояние в друго</a:t>
            </a:r>
          </a:p>
          <a:p>
            <a:endParaRPr lang="en-US" sz="2000" dirty="0"/>
          </a:p>
          <a:p>
            <a:r>
              <a:rPr lang="bg-BG" sz="2000" b="1" dirty="0" err="1" smtClean="0"/>
              <a:t>Откриваемост</a:t>
            </a:r>
            <a:r>
              <a:rPr lang="bg-BG" sz="2000" b="1" dirty="0" smtClean="0"/>
              <a:t> на услугата</a:t>
            </a:r>
            <a:r>
              <a:rPr lang="en-US" sz="2000" dirty="0"/>
              <a:t> - </a:t>
            </a:r>
            <a:r>
              <a:rPr lang="bg-BG" sz="2000" dirty="0" smtClean="0"/>
              <a:t>услугата трябва да бъде намерена </a:t>
            </a:r>
            <a:r>
              <a:rPr lang="en-US" sz="2000" dirty="0" smtClean="0"/>
              <a:t>(</a:t>
            </a:r>
            <a:r>
              <a:rPr lang="bg-BG" sz="2000" dirty="0" smtClean="0"/>
              <a:t>обикновено в регистър на услугите</a:t>
            </a:r>
            <a:r>
              <a:rPr lang="en-US" sz="2000" dirty="0" smtClean="0"/>
              <a:t>)</a:t>
            </a:r>
            <a:endParaRPr lang="bg-BG" sz="2000" dirty="0" smtClean="0"/>
          </a:p>
          <a:p>
            <a:endParaRPr lang="en-US" sz="2000" dirty="0"/>
          </a:p>
          <a:p>
            <a:r>
              <a:rPr lang="bg-BG" sz="2000" b="1" dirty="0" err="1" smtClean="0"/>
              <a:t>Съставност</a:t>
            </a:r>
            <a:r>
              <a:rPr lang="bg-BG" sz="2000" b="1" dirty="0" smtClean="0"/>
              <a:t> на услугата </a:t>
            </a:r>
            <a:r>
              <a:rPr lang="en-US" sz="2000" dirty="0" smtClean="0"/>
              <a:t>– </a:t>
            </a:r>
            <a:r>
              <a:rPr lang="bg-BG" sz="2000" dirty="0" smtClean="0"/>
              <a:t>услугите разбиват големите проблеми на малко проблеми. Всяка функционалност трябва да бъде реализирана в отделна услуга</a:t>
            </a:r>
          </a:p>
          <a:p>
            <a:endParaRPr lang="en-US" sz="2000" dirty="0"/>
          </a:p>
          <a:p>
            <a:r>
              <a:rPr lang="bg-BG" sz="2000" b="1" dirty="0" smtClean="0"/>
              <a:t>Съвместимост на услугата</a:t>
            </a:r>
            <a:r>
              <a:rPr lang="en-US" sz="2000" dirty="0"/>
              <a:t> - </a:t>
            </a:r>
            <a:r>
              <a:rPr lang="ru-RU" sz="2000" dirty="0"/>
              <a:t>Услугите трябва да използват стандарти, които позволяват на различни абонати да използват услугата</a:t>
            </a:r>
            <a:r>
              <a:rPr lang="en-US" sz="2000" dirty="0" smtClean="0"/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8474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C3758-13D1-431B-AC81-8115E2D7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69C64A-705C-4021-BEFE-4A2E87EB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434558"/>
          </a:xfrm>
        </p:spPr>
        <p:txBody>
          <a:bodyPr/>
          <a:lstStyle/>
          <a:p>
            <a:r>
              <a:rPr lang="en-US" cap="none" dirty="0"/>
              <a:t>hkostadinova@gmail.com</a:t>
            </a:r>
            <a:endParaRPr lang="bg-BG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EAD8-EA14-40A7-9689-D356F038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763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87683</TotalTime>
  <Words>963</Words>
  <Application>Microsoft Office PowerPoint</Application>
  <PresentationFormat>Widescreen</PresentationFormat>
  <Paragraphs>207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Verdana</vt:lpstr>
      <vt:lpstr>Wingdings</vt:lpstr>
      <vt:lpstr>Retrospect</vt:lpstr>
      <vt:lpstr>CSCB869 Java Web Services</vt:lpstr>
      <vt:lpstr>Съдържание</vt:lpstr>
      <vt:lpstr>Уеб услуга (Web Service)</vt:lpstr>
      <vt:lpstr>Архитектура на Уеб услуга (Web Service)</vt:lpstr>
      <vt:lpstr>Уеб услуги - предимства</vt:lpstr>
      <vt:lpstr>Видове Уеб услуги (Web Services)</vt:lpstr>
      <vt:lpstr>RESTful (REpresentational State Transfer)</vt:lpstr>
      <vt:lpstr>RESTful web service - Ресурси</vt:lpstr>
      <vt:lpstr>RESTful web service - Ресурси</vt:lpstr>
      <vt:lpstr>RESTful – HTTP Request (заявка)</vt:lpstr>
      <vt:lpstr>RESTful – HTTP Response (отговор)</vt:lpstr>
      <vt:lpstr>HTTP методи</vt:lpstr>
      <vt:lpstr>HTTP методи – възникване на грешки</vt:lpstr>
      <vt:lpstr>RESTful уеб услуги – statelessness</vt:lpstr>
      <vt:lpstr>RESTful уеб услуги – кеширане</vt:lpstr>
      <vt:lpstr>RESTful уеб услуги – сигурност</vt:lpstr>
      <vt:lpstr>RESTful – сигурност</vt:lpstr>
      <vt:lpstr>RESTful API - Demo </vt:lpstr>
      <vt:lpstr>Архитектура ориентирана към услуги - Принципи</vt:lpstr>
      <vt:lpstr>Архитектура ориентирана към услуги - Принципи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CSCB415 Лабораторни занятия по Java</dc:title>
  <dc:creator>Kostadinova</dc:creator>
  <cp:lastModifiedBy>Kostadinova</cp:lastModifiedBy>
  <cp:revision>1047</cp:revision>
  <dcterms:created xsi:type="dcterms:W3CDTF">2018-07-12T12:35:35Z</dcterms:created>
  <dcterms:modified xsi:type="dcterms:W3CDTF">2020-10-02T13:14:36Z</dcterms:modified>
</cp:coreProperties>
</file>