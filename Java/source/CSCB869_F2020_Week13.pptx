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326" r:id="rId3"/>
    <p:sldId id="327" r:id="rId4"/>
    <p:sldId id="330" r:id="rId5"/>
    <p:sldId id="328" r:id="rId6"/>
    <p:sldId id="329" r:id="rId7"/>
    <p:sldId id="332" r:id="rId8"/>
    <p:sldId id="333" r:id="rId9"/>
    <p:sldId id="337" r:id="rId10"/>
    <p:sldId id="334" r:id="rId11"/>
    <p:sldId id="335" r:id="rId12"/>
    <p:sldId id="338" r:id="rId13"/>
    <p:sldId id="339" r:id="rId14"/>
    <p:sldId id="341" r:id="rId15"/>
    <p:sldId id="336" r:id="rId16"/>
    <p:sldId id="340" r:id="rId17"/>
    <p:sldId id="30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41" autoAdjust="0"/>
    <p:restoredTop sz="94660"/>
  </p:normalViewPr>
  <p:slideViewPr>
    <p:cSldViewPr snapToGrid="0">
      <p:cViewPr varScale="1">
        <p:scale>
          <a:sx n="86" d="100"/>
          <a:sy n="86" d="100"/>
        </p:scale>
        <p:origin x="8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F26A4-3D0C-4F46-9E17-23A17F4C1F18}" type="datetimeFigureOut">
              <a:rPr lang="bg-BG" smtClean="0"/>
              <a:t>14.1.2021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37892-EBC3-40FE-B04E-4AB54202977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043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F6E2-930B-4D3F-AA22-87A9BFA33EC6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358B-8B28-4968-AF9F-2548E5758FCC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C1444-3193-4684-8666-C4B6B80732D1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AFBC-BC02-4151-94E7-DE32C5B289F9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B86C-3D32-4A4F-BBEA-07E55B6F8A3C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1394-07B9-4C2C-9CF2-AE4CE436CFC4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E95E-6310-4C1D-8E8A-E1CF2650E143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8A5940-9D6F-44F2-BF6C-D077A3A132F5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3ED5-624B-4FA7-AE2E-F44F8CD3CEE5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8A96-A7FC-4EBC-BD1E-D756D136F746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997E-0AED-4623-B8EF-425E1B40E9E7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94312-28F8-481C-BAD0-9E7BC9DC1C73}" type="datetime1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kostadinov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ottutorial.com/introduction-to-aspect-oriented-programming-and-cross-cutting-concerns" TargetMode="External"/><Relationship Id="rId2" Type="http://schemas.openxmlformats.org/officeDocument/2006/relationships/hyperlink" Target="https://www.journaldev.com/2583/spring-aop-example-tutorial-aspect-advice-pointcut-joinpoint-annotation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A958-C2AE-4D86-96E8-03438CB17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CSCB869 Java Web Services</a:t>
            </a:r>
            <a:endParaRPr lang="bg-BG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9F8A0-9612-49E7-BA45-800CC9C5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53596"/>
            <a:ext cx="10058400" cy="1673036"/>
          </a:xfrm>
        </p:spPr>
        <p:txBody>
          <a:bodyPr>
            <a:noAutofit/>
          </a:bodyPr>
          <a:lstStyle/>
          <a:p>
            <a:r>
              <a:rPr lang="bg-BG" b="1" dirty="0"/>
              <a:t>Гл. ас. д-р Христина Костадинова</a:t>
            </a:r>
            <a:r>
              <a:rPr lang="en-US" b="1" dirty="0"/>
              <a:t>, </a:t>
            </a:r>
            <a:r>
              <a:rPr lang="en-US" b="1" cap="none" dirty="0">
                <a:hlinkClick r:id="rId2"/>
              </a:rPr>
              <a:t>hkostadinova@gmail.com</a:t>
            </a:r>
            <a:endParaRPr lang="en-US" sz="1200" cap="none" dirty="0"/>
          </a:p>
          <a:p>
            <a:endParaRPr lang="bg-BG" sz="1200" cap="none" dirty="0"/>
          </a:p>
          <a:p>
            <a:endParaRPr lang="bg-BG" sz="1200" cap="none" dirty="0"/>
          </a:p>
          <a:p>
            <a:endParaRPr lang="bg-BG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B05C-EC2B-4E5D-9A21-5D0F4F19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AOP (Aspect Oriented Programming)</a:t>
            </a:r>
            <a:endParaRPr lang="bg-BG" sz="2400" dirty="0"/>
          </a:p>
          <a:p>
            <a:r>
              <a:rPr lang="bg-BG" sz="2400" dirty="0"/>
              <a:t>Профили (</a:t>
            </a:r>
            <a:r>
              <a:rPr lang="en-US" sz="2400" dirty="0"/>
              <a:t>Profiles</a:t>
            </a:r>
            <a:r>
              <a:rPr lang="bg-BG" sz="2400" dirty="0"/>
              <a:t>)</a:t>
            </a:r>
            <a:r>
              <a:rPr lang="en-US" sz="2400" dirty="0"/>
              <a:t> </a:t>
            </a:r>
            <a:r>
              <a:rPr lang="bg-BG" sz="2400" dirty="0"/>
              <a:t>в </a:t>
            </a:r>
            <a:r>
              <a:rPr lang="en-US" sz="2400" dirty="0"/>
              <a:t>Spring </a:t>
            </a:r>
            <a:r>
              <a:rPr lang="bg-BG" sz="2400" dirty="0"/>
              <a:t>проект</a:t>
            </a:r>
            <a:endParaRPr lang="en-US" sz="2400" dirty="0"/>
          </a:p>
          <a:p>
            <a:r>
              <a:rPr lang="bg-BG" sz="2400" dirty="0"/>
              <a:t>Разширяване на БД (</a:t>
            </a:r>
            <a:r>
              <a:rPr lang="en-US" sz="2400" dirty="0"/>
              <a:t>Liquibase</a:t>
            </a:r>
            <a:r>
              <a:rPr lang="bg-BG" sz="2400" dirty="0"/>
              <a:t>)</a:t>
            </a:r>
          </a:p>
          <a:p>
            <a:endParaRPr lang="bg-BG" sz="2400" dirty="0"/>
          </a:p>
          <a:p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83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6CA31-EFE0-43EA-AAC9-CA48B5F2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AOP</a:t>
            </a:r>
            <a:r>
              <a:rPr lang="bg-BG" dirty="0"/>
              <a:t> (</a:t>
            </a:r>
            <a:r>
              <a:rPr lang="en-US" dirty="0"/>
              <a:t>Aspect-Oriented Programming</a:t>
            </a:r>
            <a:r>
              <a:rPr lang="bg-BG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0A379-E664-4B96-A17F-7F113E803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bg-BG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Аспектно</a:t>
            </a:r>
            <a:r>
              <a:rPr lang="bg-BG" b="1" i="1" dirty="0">
                <a:solidFill>
                  <a:srgbClr val="000000"/>
                </a:solidFill>
                <a:latin typeface="Verdana" panose="020B0604030504040204" pitchFamily="34" charset="0"/>
              </a:rPr>
              <a:t>-ориентирано програмиране (АОП) </a:t>
            </a:r>
            <a:r>
              <a:rPr lang="bg-BG" i="1" dirty="0">
                <a:solidFill>
                  <a:srgbClr val="000000"/>
                </a:solidFill>
                <a:latin typeface="Verdana" panose="020B0604030504040204" pitchFamily="34" charset="0"/>
              </a:rPr>
              <a:t>– парадигма за структуриране на софтуерни приложения, при реализиране на общи процеси за съвкупности от обекти</a:t>
            </a:r>
          </a:p>
          <a:p>
            <a:pPr algn="just"/>
            <a:r>
              <a:rPr lang="en-US" i="1" dirty="0">
                <a:solidFill>
                  <a:srgbClr val="000000"/>
                </a:solidFill>
                <a:latin typeface="Verdana" panose="020B0604030504040204" pitchFamily="34" charset="0"/>
              </a:rPr>
              <a:t>Cross-cutting concerns – </a:t>
            </a:r>
            <a:r>
              <a:rPr lang="bg-BG" i="1" dirty="0">
                <a:solidFill>
                  <a:srgbClr val="000000"/>
                </a:solidFill>
                <a:latin typeface="Verdana" panose="020B0604030504040204" pitchFamily="34" charset="0"/>
              </a:rPr>
              <a:t>процеси, свързани с множество обекти </a:t>
            </a:r>
            <a:r>
              <a:rPr lang="en-US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bg-BG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</a:p>
          <a:p>
            <a:pPr algn="just"/>
            <a:r>
              <a:rPr lang="bg-BG" i="1" dirty="0">
                <a:solidFill>
                  <a:srgbClr val="000000"/>
                </a:solidFill>
                <a:latin typeface="Verdana" panose="020B0604030504040204" pitchFamily="34" charset="0"/>
              </a:rPr>
              <a:t>Примери: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bg-BG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Достъп до БД</a:t>
            </a:r>
            <a:endParaRPr lang="en-US" b="0" i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bg-BG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Моделите на данните (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Data Entities</a:t>
            </a:r>
            <a:r>
              <a:rPr lang="bg-BG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</a:t>
            </a:r>
            <a:endParaRPr lang="en-US" b="0" i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bg-BG" i="1" dirty="0">
                <a:solidFill>
                  <a:srgbClr val="000000"/>
                </a:solidFill>
                <a:latin typeface="Verdana" panose="020B0604030504040204" pitchFamily="34" charset="0"/>
              </a:rPr>
              <a:t>Уведомления</a:t>
            </a:r>
            <a:endParaRPr lang="en-US" b="0" i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bg-BG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Управление на грешките</a:t>
            </a:r>
            <a:endParaRPr lang="en-US" b="0" i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Logging</a:t>
            </a:r>
            <a:endParaRPr lang="bg-BG" b="0" i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F1592-4A8C-41F9-81C3-466361B6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65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6CA31-EFE0-43EA-AAC9-CA48B5F2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AOP</a:t>
            </a:r>
            <a:r>
              <a:rPr lang="bg-BG" dirty="0"/>
              <a:t> и </a:t>
            </a:r>
            <a:r>
              <a:rPr lang="en-US" dirty="0"/>
              <a:t>Spring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0A379-E664-4B96-A17F-7F113E803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bg-BG" dirty="0">
                <a:solidFill>
                  <a:srgbClr val="000000"/>
                </a:solidFill>
                <a:latin typeface="Verdana" panose="020B0604030504040204" pitchFamily="34" charset="0"/>
              </a:rPr>
              <a:t>АОП е основен компонент в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Spring Framework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/>
            <a:r>
              <a:rPr lang="ru-RU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AOP </a:t>
            </a:r>
            <a:r>
              <a:rPr lang="ru-RU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допълва</a:t>
            </a:r>
            <a:r>
              <a:rPr lang="ru-RU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Spring</a:t>
            </a:r>
            <a:r>
              <a:rPr lang="ru-RU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IoC</a:t>
            </a:r>
            <a:r>
              <a:rPr lang="ru-RU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за да </a:t>
            </a:r>
            <a:r>
              <a:rPr lang="ru-RU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предостави</a:t>
            </a:r>
            <a:r>
              <a:rPr lang="ru-RU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bg-BG" dirty="0">
                <a:solidFill>
                  <a:srgbClr val="000000"/>
                </a:solidFill>
                <a:latin typeface="Verdana" panose="020B0604030504040204" pitchFamily="34" charset="0"/>
              </a:rPr>
              <a:t>възможност за работа с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cross-cutting concerns</a:t>
            </a:r>
            <a:r>
              <a:rPr lang="ru-RU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Spring 2.0 </a:t>
            </a:r>
            <a:r>
              <a:rPr lang="bg-BG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предоставя начин за създаване на персонализирани аспекти чрез: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bg-BG" dirty="0">
                <a:solidFill>
                  <a:srgbClr val="000000"/>
                </a:solidFill>
                <a:latin typeface="Verdana" panose="020B0604030504040204" pitchFamily="34" charset="0"/>
              </a:rPr>
              <a:t>Конфигурационен подход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@AspectJ </a:t>
            </a:r>
            <a:r>
              <a:rPr lang="bg-BG" dirty="0">
                <a:solidFill>
                  <a:srgbClr val="000000"/>
                </a:solidFill>
                <a:latin typeface="Verdana" panose="020B0604030504040204" pitchFamily="34" charset="0"/>
              </a:rPr>
              <a:t>анотации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AOP </a:t>
            </a:r>
            <a:r>
              <a:rPr lang="bg-BG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 използва в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Spring Framework </a:t>
            </a:r>
            <a:r>
              <a:rPr lang="bg-BG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осигуряване на декларативни услуги</a:t>
            </a:r>
          </a:p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F1592-4A8C-41F9-81C3-466361B6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40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B55F-AE90-4430-BA06-90601E80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AOP </a:t>
            </a:r>
            <a:r>
              <a:rPr lang="bg-BG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понятия</a:t>
            </a:r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0ABD8-A6DA-48FB-B324-25B7AB5B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F12D65-A237-425D-9267-FD855168FC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084" y="1797797"/>
            <a:ext cx="10058399" cy="32624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8088" rIns="9144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Aspect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: процесът, койт</a:t>
            </a:r>
            <a:r>
              <a:rPr lang="bg-BG" altLang="bg-BG" sz="1800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о е свързан с множество обекти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. Аспектите се имплементират със стандартни класове и конфигурационен подход (</a:t>
            </a:r>
            <a:r>
              <a:rPr kumimoji="0" lang="en-US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schema-based approach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) или със стандартни класове, </a:t>
            </a:r>
            <a:r>
              <a:rPr kumimoji="0" lang="bg-BG" altLang="bg-BG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анотирани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 с 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@Aspect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 (</a:t>
            </a:r>
            <a:r>
              <a:rPr kumimoji="0" lang="en-US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@AspectJ 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стил).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Join</a:t>
            </a:r>
            <a:r>
              <a:rPr kumimoji="0" lang="bg-BG" altLang="bg-BG" sz="18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bg-BG" altLang="bg-BG" sz="18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point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:</a:t>
            </a:r>
            <a:r>
              <a:rPr kumimoji="0" lang="en-US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точка при </a:t>
            </a:r>
            <a:r>
              <a:rPr kumimoji="0" lang="bg-BG" altLang="bg-BG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изпълението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 на програмата (изпълняване на метод, управление на изключение ...).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Advice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: действие, което се извършва от аспекта в даде на точка. </a:t>
            </a:r>
            <a:r>
              <a:rPr lang="en-US" altLang="bg-BG" sz="1800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Spring </a:t>
            </a:r>
            <a:r>
              <a:rPr lang="bg-BG" altLang="bg-BG" sz="1800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моделира </a:t>
            </a:r>
            <a:r>
              <a:rPr lang="en-US" altLang="bg-BG" sz="1800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advice</a:t>
            </a:r>
            <a:r>
              <a:rPr lang="bg-BG" altLang="bg-BG" sz="1800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чрез </a:t>
            </a:r>
            <a:r>
              <a:rPr lang="en-US" altLang="bg-BG" sz="1800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interceptor.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Pointcut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bg-BG" altLang="bg-BG" sz="1800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предикат за съпоставяне на </a:t>
            </a:r>
            <a:r>
              <a:rPr kumimoji="0" lang="bg-BG" altLang="bg-BG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join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bg-BG" altLang="bg-BG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points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869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DE7FC-15BE-4270-BABB-7266E8327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var(--font-family--heading)"/>
              </a:rPr>
              <a:t>AOP </a:t>
            </a:r>
            <a:r>
              <a:rPr lang="bg-BG" b="1" i="0" dirty="0">
                <a:effectLst/>
                <a:latin typeface="var(--font-family--heading)"/>
              </a:rPr>
              <a:t>типове</a:t>
            </a:r>
            <a:r>
              <a:rPr lang="en-US" b="1" i="0" dirty="0">
                <a:effectLst/>
                <a:latin typeface="var(--font-family--heading)"/>
              </a:rPr>
              <a:t> Advice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42FDD-732A-4903-83D6-C2AEEA0D2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12121"/>
                </a:solidFill>
                <a:effectLst/>
                <a:latin typeface="-apple-system"/>
              </a:rPr>
              <a:t>Before advice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: Advice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се изпълнява преди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 join point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12121"/>
                </a:solidFill>
                <a:effectLst/>
                <a:latin typeface="-apple-system"/>
              </a:rPr>
              <a:t>After returning advice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: Advice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се изпълнява, след като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 join point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завърши нормално работата си (без да хвърли изключение)</a:t>
            </a:r>
            <a:endParaRPr lang="en-US" b="0" i="0" dirty="0">
              <a:solidFill>
                <a:srgbClr val="212121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12121"/>
                </a:solidFill>
                <a:effectLst/>
                <a:latin typeface="-apple-system"/>
              </a:rPr>
              <a:t>After throwing advice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: Advice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се изпълнява, ако методът хвърли изключение</a:t>
            </a:r>
            <a:endParaRPr lang="en-US" b="0" i="0" dirty="0">
              <a:solidFill>
                <a:srgbClr val="212121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12121"/>
                </a:solidFill>
                <a:effectLst/>
                <a:latin typeface="-apple-system"/>
              </a:rPr>
              <a:t>After advice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: Advice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се изпълнява независимо как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 join point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приключва работа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 (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нормално или хвърля изключение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)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12121"/>
                </a:solidFill>
                <a:effectLst/>
                <a:latin typeface="-apple-system"/>
              </a:rPr>
              <a:t>Around advice: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 Advice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обхваща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 join point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 (извикването на метода)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. </a:t>
            </a:r>
            <a:r>
              <a:rPr lang="bg-BG" dirty="0">
                <a:solidFill>
                  <a:srgbClr val="212121"/>
                </a:solidFill>
                <a:latin typeface="-apple-system"/>
              </a:rPr>
              <a:t>Може да осигури персонализирано поведение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преди и след извикването на метода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.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Може да се контролира дали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 join point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да бъде изпълнен или да се върне различна стойност</a:t>
            </a:r>
            <a:r>
              <a:rPr lang="en-US" b="0" i="0" dirty="0">
                <a:solidFill>
                  <a:srgbClr val="212121"/>
                </a:solidFill>
                <a:effectLst/>
                <a:latin typeface="-apple-system"/>
              </a:rPr>
              <a:t> value </a:t>
            </a:r>
            <a:r>
              <a:rPr lang="bg-BG" b="0" i="0" dirty="0">
                <a:solidFill>
                  <a:srgbClr val="212121"/>
                </a:solidFill>
                <a:effectLst/>
                <a:latin typeface="-apple-system"/>
              </a:rPr>
              <a:t>или да се </a:t>
            </a:r>
            <a:r>
              <a:rPr lang="bg-BG" b="0" i="0">
                <a:solidFill>
                  <a:srgbClr val="212121"/>
                </a:solidFill>
                <a:effectLst/>
                <a:latin typeface="-apple-system"/>
              </a:rPr>
              <a:t>хвърли изключение</a:t>
            </a:r>
            <a:r>
              <a:rPr lang="en-US" b="0" i="0">
                <a:solidFill>
                  <a:srgbClr val="212121"/>
                </a:solidFill>
                <a:effectLst/>
                <a:latin typeface="-apple-system"/>
              </a:rPr>
              <a:t>.</a:t>
            </a:r>
            <a:endParaRPr lang="en-US" b="0" i="0" dirty="0">
              <a:solidFill>
                <a:srgbClr val="212121"/>
              </a:solidFill>
              <a:effectLst/>
              <a:latin typeface="-apple-system"/>
            </a:endParaRPr>
          </a:p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99834-507A-48C8-B427-67F115101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72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D021-7E19-4048-BD5D-CD3E7C70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</a:t>
            </a:r>
            <a:r>
              <a:rPr lang="bg-BG" dirty="0"/>
              <a:t>Ресурси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89A34-51D7-45C3-807B-40936745D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https://www.journaldev.com/2583/spring-aop-example-tutorial-aspect-advice-pointcut-joinpoint-annotations</a:t>
            </a:r>
            <a:endParaRPr lang="bg-BG" dirty="0"/>
          </a:p>
          <a:p>
            <a:r>
              <a:rPr lang="en-US" dirty="0">
                <a:hlinkClick r:id="rId3"/>
              </a:rPr>
              <a:t>https://www.springboottutorial.com/introduction-to-aspect-oriented-programming-and-cross-cutting-concerns</a:t>
            </a:r>
            <a:endParaRPr lang="bg-BG" dirty="0"/>
          </a:p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722A7-32BB-4D76-9163-0BA77D45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23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8034-FC10-49D4-84F3-4C5C1FC9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Profiles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D4DC1-8B80-416F-8AB3-8441A2645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ru-RU" sz="2400" dirty="0" err="1"/>
              <a:t>Spring</a:t>
            </a:r>
            <a:r>
              <a:rPr lang="ru-RU" sz="2400" dirty="0"/>
              <a:t> </a:t>
            </a:r>
            <a:r>
              <a:rPr lang="ru-RU" sz="2400" dirty="0" err="1"/>
              <a:t>Profiles</a:t>
            </a:r>
            <a:r>
              <a:rPr lang="ru-RU" sz="2400" dirty="0"/>
              <a:t>:</a:t>
            </a:r>
          </a:p>
          <a:p>
            <a:pPr lvl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ru-RU" sz="2000" dirty="0" err="1"/>
              <a:t>осигуряват</a:t>
            </a:r>
            <a:r>
              <a:rPr lang="ru-RU" sz="2000" dirty="0"/>
              <a:t> начин за </a:t>
            </a:r>
            <a:r>
              <a:rPr lang="ru-RU" sz="2000" dirty="0" err="1"/>
              <a:t>разделяне</a:t>
            </a:r>
            <a:r>
              <a:rPr lang="ru-RU" sz="2000" dirty="0"/>
              <a:t> на части от </a:t>
            </a:r>
            <a:r>
              <a:rPr lang="ru-RU" sz="2000" dirty="0" err="1"/>
              <a:t>конфигурацията</a:t>
            </a:r>
            <a:r>
              <a:rPr lang="ru-RU" sz="2000" dirty="0"/>
              <a:t> на приложение</a:t>
            </a:r>
            <a:r>
              <a:rPr lang="bg-BG" sz="2000" dirty="0"/>
              <a:t>то</a:t>
            </a:r>
          </a:p>
          <a:p>
            <a:pPr lvl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ru-RU" sz="2000" dirty="0"/>
              <a:t>правят </a:t>
            </a:r>
            <a:r>
              <a:rPr lang="ru-RU" sz="2000" dirty="0" err="1"/>
              <a:t>достъпно</a:t>
            </a:r>
            <a:r>
              <a:rPr lang="ru-RU" sz="2000" dirty="0"/>
              <a:t> </a:t>
            </a:r>
            <a:r>
              <a:rPr lang="ru-RU" sz="2000" dirty="0" err="1"/>
              <a:t>приложението</a:t>
            </a:r>
            <a:r>
              <a:rPr lang="ru-RU" sz="2000" dirty="0"/>
              <a:t> само в </a:t>
            </a:r>
            <a:r>
              <a:rPr lang="ru-RU" sz="2000" dirty="0" err="1"/>
              <a:t>определени</a:t>
            </a:r>
            <a:r>
              <a:rPr lang="ru-RU" sz="2000" dirty="0"/>
              <a:t> среди</a:t>
            </a:r>
          </a:p>
          <a:p>
            <a:pPr lvl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ru-RU" sz="2000" dirty="0" err="1"/>
              <a:t>всеки</a:t>
            </a:r>
            <a:r>
              <a:rPr lang="ru-RU" sz="2000" dirty="0"/>
              <a:t> @Component или @Configuration </a:t>
            </a:r>
            <a:r>
              <a:rPr lang="ru-RU" sz="2000" dirty="0" err="1"/>
              <a:t>може</a:t>
            </a:r>
            <a:r>
              <a:rPr lang="ru-RU" sz="2000" dirty="0"/>
              <a:t> да </a:t>
            </a:r>
            <a:r>
              <a:rPr lang="ru-RU" sz="2000" dirty="0" err="1"/>
              <a:t>бъде</a:t>
            </a:r>
            <a:r>
              <a:rPr lang="ru-RU" sz="2000" dirty="0"/>
              <a:t> </a:t>
            </a:r>
            <a:r>
              <a:rPr lang="ru-RU" sz="2000" dirty="0" err="1"/>
              <a:t>анотиран</a:t>
            </a:r>
            <a:r>
              <a:rPr lang="ru-RU" sz="2000" dirty="0"/>
              <a:t> с @Profile: </a:t>
            </a:r>
            <a:r>
              <a:rPr lang="ru-RU" sz="2000" dirty="0" err="1"/>
              <a:t>така</a:t>
            </a:r>
            <a:r>
              <a:rPr lang="ru-RU" sz="2000" dirty="0"/>
              <a:t> се </a:t>
            </a:r>
            <a:r>
              <a:rPr lang="ru-RU" sz="2000" dirty="0" err="1"/>
              <a:t>ограничава</a:t>
            </a:r>
            <a:r>
              <a:rPr lang="ru-RU" sz="2000" dirty="0"/>
              <a:t> кога точно да се </a:t>
            </a:r>
            <a:r>
              <a:rPr lang="ru-RU" sz="2000" dirty="0" err="1"/>
              <a:t>зарежда</a:t>
            </a:r>
            <a:endParaRPr lang="bg-BG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E5F4C-956D-4F92-9B3B-3B278355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374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56FB-4C54-4B18-984A-3E372AF95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Profiles</a:t>
            </a:r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C4A0A-684B-4E4B-9C04-0745CB53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3464DBE-49D0-4E6D-8B91-F55750499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3104662"/>
            <a:ext cx="4509857" cy="193899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@Configuration</a:t>
            </a: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bg-BG" altLang="bg-BG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@Profile("production")</a:t>
            </a: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bg-BG" altLang="bg-BG" sz="2400" b="1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bg-BG" altLang="bg-BG" sz="2400" b="1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bg-BG" altLang="bg-BG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ProductionConfiguration</a:t>
            </a: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kumimoji="0" lang="bg-BG" altLang="bg-BG" sz="2400" b="0" i="1" u="none" strike="noStrike" cap="none" normalizeH="0" baseline="0" dirty="0">
                <a:ln>
                  <a:noFill/>
                </a:ln>
                <a:solidFill>
                  <a:srgbClr val="3F5F5F"/>
                </a:solidFill>
                <a:effectLst/>
                <a:latin typeface="Consolas" panose="020B0609020204030204" pitchFamily="49" charset="0"/>
              </a:rPr>
              <a:t>// ...</a:t>
            </a: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kumimoji="0" lang="bg-BG" altLang="bg-BG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bg-BG" altLang="bg-BG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0B383FB-8998-4805-87E3-754DB5F6E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2306856"/>
            <a:ext cx="5205866" cy="40011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spring.profiles.active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dev,hsqldb</a:t>
            </a: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bg-BG" altLang="bg-BG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CF700-6C93-4861-96DE-A24C148BA548}"/>
              </a:ext>
            </a:extLst>
          </p:cNvPr>
          <p:cNvSpPr txBox="1"/>
          <p:nvPr/>
        </p:nvSpPr>
        <p:spPr>
          <a:xfrm>
            <a:off x="1097280" y="5721631"/>
            <a:ext cx="10310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https://docs.spring.io/spring-boot/docs/1.2.0.M1/reference/html/boot-features-profiles.html</a:t>
            </a:r>
          </a:p>
        </p:txBody>
      </p:sp>
    </p:spTree>
    <p:extLst>
      <p:ext uri="{BB962C8B-B14F-4D97-AF65-F5344CB8AC3E}">
        <p14:creationId xmlns:p14="http://schemas.microsoft.com/office/powerpoint/2010/main" val="3403570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2F0F-C64D-4260-B82F-06710247C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Управление на версии на БД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DC261-36EB-4A68-B8F9-239D09823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Liquibase </a:t>
            </a:r>
            <a:endParaRPr lang="bg-BG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bg-BG" sz="2400" dirty="0"/>
              <a:t>Описание на промените в БД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Update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Rollback</a:t>
            </a:r>
            <a:endParaRPr lang="bg-BG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37B62-440C-43F7-820E-42809A86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574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820D-B8BA-4CC8-842B-10080B13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changelog.yaml</a:t>
            </a:r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ECE42-4EB3-46D2-83CE-9076BD94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91E4CB5-20F5-4F37-B234-63FE7B0E8C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34366"/>
            <a:ext cx="4705519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databaseChangeLog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-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preConditions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-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runningAs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username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liquibase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-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changeSet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id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2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author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kostadinova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changes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-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addColumn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tableName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school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columns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-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column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name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max_number_of_students</a:t>
            </a:r>
            <a:b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type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bg-BG" altLang="bg-BG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int</a:t>
            </a:r>
            <a:endParaRPr kumimoji="0" lang="bg-BG" altLang="bg-BG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145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2058-208B-48B6-A126-B2C5C26A7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DATABASECHANGELOG </a:t>
            </a:r>
            <a:r>
              <a:rPr lang="bg-BG" dirty="0"/>
              <a:t>таблица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52A6F-E65A-4E1D-8457-6AC102C97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Liquibase </a:t>
            </a:r>
            <a:r>
              <a:rPr lang="bg-BG" dirty="0"/>
              <a:t>чете от</a:t>
            </a:r>
            <a:r>
              <a:rPr lang="en-US" dirty="0"/>
              <a:t> DATABASECHANGELOG </a:t>
            </a:r>
            <a:r>
              <a:rPr lang="bg-BG" dirty="0"/>
              <a:t>таблицата, кои </a:t>
            </a:r>
            <a:r>
              <a:rPr lang="en-US" dirty="0"/>
              <a:t>changesets </a:t>
            </a:r>
            <a:r>
              <a:rPr lang="bg-BG" dirty="0"/>
              <a:t>са вече изпълнени</a:t>
            </a:r>
          </a:p>
          <a:p>
            <a:r>
              <a:rPr lang="bg-BG" dirty="0"/>
              <a:t>Сравнява </a:t>
            </a:r>
            <a:r>
              <a:rPr lang="en-US" dirty="0" err="1"/>
              <a:t>changelog.yaml</a:t>
            </a:r>
            <a:r>
              <a:rPr lang="bg-BG" dirty="0"/>
              <a:t> с описаните в таблица </a:t>
            </a:r>
            <a:r>
              <a:rPr lang="en-US" dirty="0"/>
              <a:t>DATABASECHANGELOG</a:t>
            </a:r>
            <a:r>
              <a:rPr lang="bg-BG" dirty="0"/>
              <a:t> </a:t>
            </a:r>
            <a:r>
              <a:rPr lang="en-US" dirty="0"/>
              <a:t>changesets</a:t>
            </a:r>
            <a:r>
              <a:rPr lang="bg-BG" dirty="0"/>
              <a:t> и изпълнява, тези които са в </a:t>
            </a:r>
            <a:r>
              <a:rPr lang="en-US" dirty="0" err="1"/>
              <a:t>chagelog.yaml</a:t>
            </a:r>
            <a:r>
              <a:rPr lang="en-US" dirty="0"/>
              <a:t> </a:t>
            </a:r>
            <a:r>
              <a:rPr lang="bg-BG" dirty="0"/>
              <a:t>файла и не са записани в таблицата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E55C1-79F8-4F1A-967B-F0762A0C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8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6229-3152-4766-A6B8-B4825C8D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DATABASECHANGELOGLOCK</a:t>
            </a:r>
            <a:r>
              <a:rPr lang="bg-BG" dirty="0"/>
              <a:t> таблица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79159-08D6-43E2-A035-080C28ABE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Liquibase </a:t>
            </a:r>
            <a:r>
              <a:rPr lang="bg-BG" dirty="0"/>
              <a:t>използва таблицата </a:t>
            </a:r>
            <a:r>
              <a:rPr lang="en-US" dirty="0"/>
              <a:t>DATABASECHANGELOGLOCK, </a:t>
            </a:r>
            <a:r>
              <a:rPr lang="bg-BG" dirty="0"/>
              <a:t>за да гарантира, че само една инстанция на </a:t>
            </a:r>
            <a:r>
              <a:rPr lang="en-US" dirty="0"/>
              <a:t>Liquibase </a:t>
            </a:r>
            <a:r>
              <a:rPr lang="bg-BG" dirty="0"/>
              <a:t>работи едновременно.</a:t>
            </a:r>
          </a:p>
          <a:p>
            <a:endParaRPr lang="bg-BG" dirty="0"/>
          </a:p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C4EF1-5659-4E6C-976A-A2EDD52E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361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7A33-80CC-4026-B08B-46C8CDE5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Управление на версиите на БД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3C525-3305-4C9F-8497-A4CA11CA8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– </a:t>
            </a:r>
            <a:r>
              <a:rPr lang="bg-BG" dirty="0"/>
              <a:t>процес на установяване на промени в схемата на БД </a:t>
            </a:r>
            <a:endParaRPr lang="en-US" dirty="0"/>
          </a:p>
          <a:p>
            <a:r>
              <a:rPr lang="en-US" dirty="0"/>
              <a:t>Rollback</a:t>
            </a:r>
            <a:r>
              <a:rPr lang="bg-BG" dirty="0"/>
              <a:t> – процес на връщане на БД в предишна версия</a:t>
            </a:r>
            <a:endParaRPr lang="en-US" dirty="0"/>
          </a:p>
          <a:p>
            <a:pPr lvl="1"/>
            <a:r>
              <a:rPr lang="bg-BG" dirty="0"/>
              <a:t>Автоматично</a:t>
            </a:r>
          </a:p>
          <a:p>
            <a:pPr lvl="1"/>
            <a:r>
              <a:rPr lang="bg-BG" dirty="0"/>
              <a:t>Ръчно</a:t>
            </a:r>
          </a:p>
          <a:p>
            <a:pPr marL="201168" lvl="1" indent="0">
              <a:buNone/>
            </a:pPr>
            <a:r>
              <a:rPr lang="bg-BG" dirty="0"/>
              <a:t>Опции при изпълнение на команда </a:t>
            </a:r>
            <a:r>
              <a:rPr lang="en-US" dirty="0"/>
              <a:t>rollback </a:t>
            </a:r>
            <a:endParaRPr lang="bg-BG" dirty="0"/>
          </a:p>
          <a:p>
            <a:pPr lvl="1"/>
            <a:r>
              <a:rPr lang="en-US" dirty="0" err="1"/>
              <a:t>rollbackTag</a:t>
            </a:r>
            <a:endParaRPr lang="en-US" dirty="0"/>
          </a:p>
          <a:p>
            <a:pPr lvl="1"/>
            <a:r>
              <a:rPr lang="en-US" dirty="0" err="1"/>
              <a:t>rollbackCount</a:t>
            </a:r>
            <a:endParaRPr lang="en-US" dirty="0"/>
          </a:p>
          <a:p>
            <a:pPr lvl="1"/>
            <a:r>
              <a:rPr lang="en-US" dirty="0" err="1"/>
              <a:t>rollbackDate</a:t>
            </a:r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90463-3720-4E3A-B604-6F1687AC5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993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B6191-EEB7-484A-8F0B-CA48B113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</a:t>
            </a:r>
            <a:r>
              <a:rPr lang="bg-BG" dirty="0"/>
              <a:t>и </a:t>
            </a:r>
            <a:r>
              <a:rPr lang="en-US" dirty="0"/>
              <a:t>Liquibase</a:t>
            </a:r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4E3F5-D878-4CCB-AB32-A2DD72A6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444217-8197-4DBF-A2EB-06EE1B1632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2690" y="2154607"/>
            <a:ext cx="9505744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bg-BG" altLang="bg-BG" sz="2400" dirty="0">
                <a:solidFill>
                  <a:srgbClr val="083080"/>
                </a:solidFill>
                <a:latin typeface="JetBrains Mono"/>
              </a:rPr>
              <a:t>Използване на </a:t>
            </a:r>
            <a:r>
              <a:rPr lang="en-US" altLang="bg-BG" sz="2400" dirty="0" err="1">
                <a:solidFill>
                  <a:srgbClr val="083080"/>
                </a:solidFill>
                <a:latin typeface="JetBrains Mono"/>
              </a:rPr>
              <a:t>db.changelog-master.yaml</a:t>
            </a:r>
            <a:r>
              <a:rPr lang="bg-BG" altLang="bg-BG" sz="2400" dirty="0">
                <a:solidFill>
                  <a:srgbClr val="083080"/>
                </a:solidFill>
                <a:latin typeface="JetBrains Mono"/>
              </a:rPr>
              <a:t> файл в </a:t>
            </a:r>
            <a:r>
              <a:rPr lang="en-US" altLang="bg-BG" sz="2400" dirty="0">
                <a:solidFill>
                  <a:srgbClr val="083080"/>
                </a:solidFill>
                <a:latin typeface="JetBrains Mono"/>
              </a:rPr>
              <a:t>resources/</a:t>
            </a:r>
            <a:r>
              <a:rPr lang="en-US" altLang="bg-BG" sz="2400" dirty="0" err="1">
                <a:solidFill>
                  <a:srgbClr val="083080"/>
                </a:solidFill>
                <a:latin typeface="JetBrains Mono"/>
              </a:rPr>
              <a:t>db</a:t>
            </a:r>
            <a:r>
              <a:rPr lang="en-US" altLang="bg-BG" sz="2400" dirty="0">
                <a:solidFill>
                  <a:srgbClr val="083080"/>
                </a:solidFill>
                <a:latin typeface="JetBrains Mono"/>
              </a:rPr>
              <a:t>/changelog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bg-BG" sz="2400" dirty="0">
              <a:solidFill>
                <a:srgbClr val="083080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bg-BG" altLang="bg-BG" sz="2400" dirty="0">
                <a:solidFill>
                  <a:srgbClr val="083080"/>
                </a:solidFill>
                <a:latin typeface="JetBrains Mono"/>
              </a:rPr>
              <a:t>Или</a:t>
            </a:r>
            <a:endParaRPr lang="en-US" altLang="bg-BG" sz="2400" dirty="0">
              <a:solidFill>
                <a:srgbClr val="083080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bg-BG" altLang="bg-BG" sz="2400" dirty="0">
              <a:solidFill>
                <a:srgbClr val="083080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83080"/>
                </a:solidFill>
                <a:effectLst/>
                <a:latin typeface="JetBrains Mono"/>
              </a:rPr>
              <a:t>Използване на конфигурация в </a:t>
            </a:r>
            <a:r>
              <a:rPr kumimoji="0" lang="en-US" altLang="bg-BG" sz="2400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JetBrains Mono"/>
              </a:rPr>
              <a:t>application.properties</a:t>
            </a:r>
            <a:r>
              <a:rPr kumimoji="0" lang="en-US" altLang="bg-BG" sz="2400" b="0" i="0" u="none" strike="noStrike" cap="none" normalizeH="0" baseline="0" dirty="0">
                <a:ln>
                  <a:noFill/>
                </a:ln>
                <a:solidFill>
                  <a:srgbClr val="083080"/>
                </a:solidFill>
                <a:effectLst/>
                <a:latin typeface="JetBrains Mono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400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JetBrains Mono"/>
              </a:rPr>
              <a:t>server.port</a:t>
            </a: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8082</a:t>
            </a:r>
            <a:b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bg-BG" altLang="bg-BG" sz="2400" b="1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JetBrains Mono"/>
              </a:rPr>
              <a:t>liquibase.change-log</a:t>
            </a:r>
            <a:r>
              <a:rPr kumimoji="0" lang="bg-BG" altLang="bg-BG" sz="2400" b="1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bg-BG" altLang="bg-BG" sz="2400" b="1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classpath:changelog-dev.yaml</a:t>
            </a:r>
            <a:endParaRPr kumimoji="0" lang="bg-BG" altLang="bg-BG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229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B207-8343-46F5-9F05-41B50AA9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Управление на версии на БД – добри практики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50C95-1047-4570-B6B4-B514DA428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bg-BG" sz="2400" dirty="0"/>
              <a:t>Не се променят изпълнени </a:t>
            </a:r>
            <a:r>
              <a:rPr lang="en-US" sz="2400" dirty="0"/>
              <a:t>changesets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400" dirty="0"/>
              <a:t>Описва се по една промяна на БД във всеки </a:t>
            </a:r>
            <a:r>
              <a:rPr lang="en-US" sz="2400" dirty="0"/>
              <a:t>changeset</a:t>
            </a:r>
            <a:endParaRPr lang="bg-BG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B67B1-3E44-45C6-B250-09083AB0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078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C3758-13D1-431B-AC81-8115E2D7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dirty="0"/>
              <a:t>Благодаря за вниманието!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69C64A-705C-4021-BEFE-4A2E87EB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434558"/>
          </a:xfrm>
        </p:spPr>
        <p:txBody>
          <a:bodyPr/>
          <a:lstStyle/>
          <a:p>
            <a:r>
              <a:rPr lang="en-US" cap="none" dirty="0"/>
              <a:t>hkostadinova@gmail.com</a:t>
            </a:r>
            <a:endParaRPr lang="bg-BG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EAD8-EA14-40A7-9689-D356F038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7634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113273</TotalTime>
  <Words>731</Words>
  <Application>Microsoft Office PowerPoint</Application>
  <PresentationFormat>Widescreen</PresentationFormat>
  <Paragraphs>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-apple-system</vt:lpstr>
      <vt:lpstr>Arial</vt:lpstr>
      <vt:lpstr>Calibri</vt:lpstr>
      <vt:lpstr>Calibri Light</vt:lpstr>
      <vt:lpstr>Consolas</vt:lpstr>
      <vt:lpstr>Courier New</vt:lpstr>
      <vt:lpstr>JetBrains Mono</vt:lpstr>
      <vt:lpstr>Times New Roman</vt:lpstr>
      <vt:lpstr>var(--font-family--heading)</vt:lpstr>
      <vt:lpstr>Verdana</vt:lpstr>
      <vt:lpstr>Wingdings</vt:lpstr>
      <vt:lpstr>Retrospect</vt:lpstr>
      <vt:lpstr>CSCB869 Java Web Services</vt:lpstr>
      <vt:lpstr>Съдържание</vt:lpstr>
      <vt:lpstr>AOP (Aspect-Oriented Programming)</vt:lpstr>
      <vt:lpstr>AOP и Spring</vt:lpstr>
      <vt:lpstr>AOP понятия</vt:lpstr>
      <vt:lpstr>AOP типове Advice</vt:lpstr>
      <vt:lpstr>Online Ресурси</vt:lpstr>
      <vt:lpstr>Spring Profiles</vt:lpstr>
      <vt:lpstr>Spring Profiles</vt:lpstr>
      <vt:lpstr>Управление на версии на БД</vt:lpstr>
      <vt:lpstr>changelog.yaml</vt:lpstr>
      <vt:lpstr> DATABASECHANGELOG таблица</vt:lpstr>
      <vt:lpstr>DATABASECHANGELOGLOCK таблица</vt:lpstr>
      <vt:lpstr>Управление на версиите на БД</vt:lpstr>
      <vt:lpstr>Spring Boot и Liquibase</vt:lpstr>
      <vt:lpstr>Управление на версии на БД – добри практики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CSCB415 Лабораторни занятия по Java</dc:title>
  <dc:creator>Kostadinova</dc:creator>
  <cp:lastModifiedBy>Kostadinova</cp:lastModifiedBy>
  <cp:revision>1515</cp:revision>
  <dcterms:created xsi:type="dcterms:W3CDTF">2018-07-12T12:35:35Z</dcterms:created>
  <dcterms:modified xsi:type="dcterms:W3CDTF">2021-01-15T17:24:06Z</dcterms:modified>
</cp:coreProperties>
</file>