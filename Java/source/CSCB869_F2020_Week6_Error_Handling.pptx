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326" r:id="rId3"/>
    <p:sldId id="327" r:id="rId4"/>
    <p:sldId id="328" r:id="rId5"/>
    <p:sldId id="329" r:id="rId6"/>
    <p:sldId id="330" r:id="rId7"/>
    <p:sldId id="30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F26A4-3D0C-4F46-9E17-23A17F4C1F18}" type="datetimeFigureOut">
              <a:rPr lang="bg-BG" smtClean="0"/>
              <a:t>6.11.2020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37892-EBC3-40FE-B04E-4AB54202977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043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6F6E2-930B-4D3F-AA22-87A9BFA33EC6}" type="datetime1">
              <a:rPr lang="en-US" smtClean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358B-8B28-4968-AF9F-2548E5758FCC}" type="datetime1">
              <a:rPr lang="en-US" smtClean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C1444-3193-4684-8666-C4B6B80732D1}" type="datetime1">
              <a:rPr lang="en-US" smtClean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AFBC-BC02-4151-94E7-DE32C5B289F9}" type="datetime1">
              <a:rPr lang="en-US" smtClean="0"/>
              <a:t>11/6/2020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B86C-3D32-4A4F-BBEA-07E55B6F8A3C}" type="datetime1">
              <a:rPr lang="en-US" smtClean="0"/>
              <a:t>11/6/2020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1394-07B9-4C2C-9CF2-AE4CE436CFC4}" type="datetime1">
              <a:rPr lang="en-US" smtClean="0"/>
              <a:t>11/6/2020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6E95E-6310-4C1D-8E8A-E1CF2650E143}" type="datetime1">
              <a:rPr lang="en-US" smtClean="0"/>
              <a:t>11/6/2020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8A5940-9D6F-44F2-BF6C-D077A3A132F5}" type="datetime1">
              <a:rPr lang="en-US" smtClean="0"/>
              <a:t>11/6/2020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3ED5-624B-4FA7-AE2E-F44F8CD3CEE5}" type="datetime1">
              <a:rPr lang="en-US" smtClean="0"/>
              <a:t>11/6/2020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8A96-A7FC-4EBC-BD1E-D756D136F746}" type="datetime1">
              <a:rPr lang="en-US" smtClean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4997E-0AED-4623-B8EF-425E1B40E9E7}" type="datetime1">
              <a:rPr lang="en-US" smtClean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7694312-28F8-481C-BAD0-9E7BC9DC1C73}" type="datetime1">
              <a:rPr lang="en-US" smtClean="0"/>
              <a:t>11/6/2020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kostadinova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A958-C2AE-4D86-96E8-03438CB17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CSCB869 Java Web Services</a:t>
            </a:r>
            <a:endParaRPr lang="bg-BG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9F8A0-9612-49E7-BA45-800CC9C5F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553596"/>
            <a:ext cx="10058400" cy="1673036"/>
          </a:xfrm>
        </p:spPr>
        <p:txBody>
          <a:bodyPr>
            <a:noAutofit/>
          </a:bodyPr>
          <a:lstStyle/>
          <a:p>
            <a:r>
              <a:rPr lang="bg-BG" b="1" dirty="0"/>
              <a:t>Гл. ас. д-р Христина </a:t>
            </a:r>
            <a:r>
              <a:rPr lang="bg-BG" b="1" dirty="0" smtClean="0"/>
              <a:t>Костадинова</a:t>
            </a:r>
            <a:r>
              <a:rPr lang="en-US" b="1" dirty="0" smtClean="0"/>
              <a:t>, </a:t>
            </a:r>
            <a:r>
              <a:rPr lang="en-US" b="1" cap="none" dirty="0" smtClean="0">
                <a:hlinkClick r:id="rId2"/>
              </a:rPr>
              <a:t>hkostadinova@gmail.com</a:t>
            </a:r>
            <a:endParaRPr lang="en-US" sz="1200" cap="none" dirty="0" smtClean="0"/>
          </a:p>
          <a:p>
            <a:endParaRPr lang="bg-BG" sz="1200" cap="none" dirty="0"/>
          </a:p>
          <a:p>
            <a:endParaRPr lang="bg-BG" sz="1200" cap="none" dirty="0"/>
          </a:p>
          <a:p>
            <a:endParaRPr lang="bg-BG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B05C-EC2B-4E5D-9A21-5D0F4F19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Съдържание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bg-BG" sz="2600" dirty="0" smtClean="0"/>
              <a:t>Кодове за грешки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bg-BG" sz="2600" dirty="0" smtClean="0"/>
              <a:t>Управление на грешките на глобално ниво</a:t>
            </a:r>
            <a:endParaRPr lang="en-US" sz="2200" dirty="0" smtClean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/>
              <a:t>@</a:t>
            </a:r>
            <a:r>
              <a:rPr lang="en-US" sz="2200" dirty="0" err="1" smtClean="0"/>
              <a:t>ControllerAdvice</a:t>
            </a:r>
            <a:r>
              <a:rPr lang="bg-BG" sz="2200" dirty="0" smtClean="0"/>
              <a:t> и </a:t>
            </a:r>
            <a:r>
              <a:rPr lang="en-US" sz="2200" dirty="0"/>
              <a:t>@</a:t>
            </a:r>
            <a:r>
              <a:rPr lang="en-US" sz="2200" dirty="0" err="1"/>
              <a:t>ExceptionHandler</a:t>
            </a:r>
            <a:endParaRPr lang="bg-BG" sz="22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bg-BG" sz="2600" dirty="0" smtClean="0"/>
              <a:t>Управление на грешките на ниво контролер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/>
              <a:t>@</a:t>
            </a:r>
            <a:r>
              <a:rPr lang="en-US" sz="2200" dirty="0" err="1"/>
              <a:t>ExceptionHandler</a:t>
            </a:r>
            <a:endParaRPr lang="en-US" sz="22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bg-BG" sz="2600" dirty="0" smtClean="0"/>
              <a:t>Задаване на статуса на грешката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 err="1" smtClean="0"/>
              <a:t>ResponseStatusException</a:t>
            </a:r>
            <a:endParaRPr lang="bg-BG" sz="2200" dirty="0" smtClean="0"/>
          </a:p>
          <a:p>
            <a:pPr lvl="2">
              <a:buFont typeface="Wingdings" panose="05000000000000000000" pitchFamily="2" charset="2"/>
              <a:buChar char="§"/>
            </a:pPr>
            <a:r>
              <a:rPr lang="bg-BG" sz="2200" dirty="0" smtClean="0"/>
              <a:t>@</a:t>
            </a:r>
            <a:r>
              <a:rPr lang="en-US" sz="2200" dirty="0" err="1"/>
              <a:t>ResponseStatus</a:t>
            </a:r>
            <a:endParaRPr lang="bg-BG" sz="2200" dirty="0" smtClean="0"/>
          </a:p>
          <a:p>
            <a:pPr marL="0" indent="0">
              <a:buNone/>
            </a:pP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83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HTTP Status </a:t>
            </a:r>
            <a:r>
              <a:rPr lang="en-US" b="1" dirty="0" smtClean="0"/>
              <a:t>Codes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100-level (Informational) — </a:t>
            </a:r>
            <a:r>
              <a:rPr lang="bg-BG" dirty="0" smtClean="0"/>
              <a:t>Сървърът потвърждава заявката</a:t>
            </a:r>
            <a:endParaRPr lang="en-US" dirty="0"/>
          </a:p>
          <a:p>
            <a:r>
              <a:rPr lang="en-US" dirty="0"/>
              <a:t>200-level (Success) — </a:t>
            </a:r>
            <a:r>
              <a:rPr lang="bg-BG" dirty="0" smtClean="0"/>
              <a:t>Сървърът е завършил заявката както се очаква</a:t>
            </a:r>
            <a:endParaRPr lang="en-US" dirty="0"/>
          </a:p>
          <a:p>
            <a:r>
              <a:rPr lang="en-US" dirty="0"/>
              <a:t>300-level (Redirection) — </a:t>
            </a:r>
            <a:r>
              <a:rPr lang="ru-RU" dirty="0"/>
              <a:t>Клиентът трябва да извърши допълнителни действия, за да завърши заявката</a:t>
            </a:r>
            <a:endParaRPr lang="en-US" dirty="0"/>
          </a:p>
          <a:p>
            <a:r>
              <a:rPr lang="en-US" dirty="0"/>
              <a:t>400-level (Client error) — </a:t>
            </a:r>
            <a:r>
              <a:rPr lang="bg-BG" dirty="0" smtClean="0"/>
              <a:t>Клиентът изпраща невалидна заявка</a:t>
            </a:r>
            <a:endParaRPr lang="en-US" dirty="0"/>
          </a:p>
          <a:p>
            <a:r>
              <a:rPr lang="en-US" dirty="0"/>
              <a:t>500-level (Server error) — </a:t>
            </a:r>
            <a:r>
              <a:rPr lang="ru-RU" dirty="0"/>
              <a:t>Сървърът не успя да изпълни валидна заявка поради грешка със сървъра</a:t>
            </a:r>
            <a:endParaRPr lang="en-US" dirty="0"/>
          </a:p>
          <a:p>
            <a:r>
              <a:rPr lang="en-US" dirty="0" smtClean="0"/>
              <a:t>	 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74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3"/>
            <a:ext cx="11033761" cy="1450757"/>
          </a:xfrm>
        </p:spPr>
        <p:txBody>
          <a:bodyPr/>
          <a:lstStyle/>
          <a:p>
            <a:r>
              <a:rPr lang="en-US" b="1" dirty="0"/>
              <a:t>HTTP Status Codes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400 Bad Request — </a:t>
            </a:r>
            <a:r>
              <a:rPr lang="bg-BG" dirty="0" smtClean="0"/>
              <a:t>Невалидна заявка (липсва тялото на завката (</a:t>
            </a:r>
            <a:r>
              <a:rPr lang="en-US" dirty="0" smtClean="0"/>
              <a:t>request body</a:t>
            </a:r>
            <a:r>
              <a:rPr lang="bg-BG" dirty="0" smtClean="0"/>
              <a:t>) или параметър)</a:t>
            </a:r>
            <a:endParaRPr lang="en-US" dirty="0"/>
          </a:p>
          <a:p>
            <a:r>
              <a:rPr lang="en-US" dirty="0"/>
              <a:t>401 Unauthorized — </a:t>
            </a:r>
            <a:r>
              <a:rPr lang="bg-BG" dirty="0" smtClean="0"/>
              <a:t>Клиентът не се „аутентикира“ (</a:t>
            </a:r>
            <a:r>
              <a:rPr lang="en-US" dirty="0" smtClean="0"/>
              <a:t>authenticate</a:t>
            </a:r>
            <a:r>
              <a:rPr lang="bg-BG" dirty="0" smtClean="0"/>
              <a:t>)</a:t>
            </a:r>
            <a:endParaRPr lang="en-US" dirty="0"/>
          </a:p>
          <a:p>
            <a:r>
              <a:rPr lang="en-US" dirty="0"/>
              <a:t>403 Forbidden — </a:t>
            </a:r>
            <a:r>
              <a:rPr lang="bg-BG" dirty="0" smtClean="0"/>
              <a:t>Клиентът се </a:t>
            </a:r>
            <a:r>
              <a:rPr lang="bg-BG" dirty="0"/>
              <a:t>„аутентикира“ (</a:t>
            </a:r>
            <a:r>
              <a:rPr lang="en-US" dirty="0"/>
              <a:t>authenticate</a:t>
            </a:r>
            <a:r>
              <a:rPr lang="bg-BG" dirty="0" smtClean="0"/>
              <a:t>), но няма права да достъпва този ресурс</a:t>
            </a:r>
          </a:p>
          <a:p>
            <a:r>
              <a:rPr lang="en-US" dirty="0" smtClean="0"/>
              <a:t>404 </a:t>
            </a:r>
            <a:r>
              <a:rPr lang="en-US" dirty="0"/>
              <a:t>Not Found — </a:t>
            </a:r>
            <a:r>
              <a:rPr lang="bg-BG" dirty="0" smtClean="0"/>
              <a:t>Ресурсът не съществува</a:t>
            </a:r>
            <a:endParaRPr lang="en-US" dirty="0"/>
          </a:p>
          <a:p>
            <a:r>
              <a:rPr lang="en-US" dirty="0" smtClean="0"/>
              <a:t>500 </a:t>
            </a:r>
            <a:r>
              <a:rPr lang="en-US" dirty="0"/>
              <a:t>Internal Server Error — </a:t>
            </a:r>
            <a:r>
              <a:rPr lang="bg-BG" dirty="0" smtClean="0"/>
              <a:t>Обща грешка, възникваща от сървърна страна</a:t>
            </a:r>
            <a:endParaRPr lang="en-US" dirty="0"/>
          </a:p>
          <a:p>
            <a:r>
              <a:rPr lang="en-US" dirty="0"/>
              <a:t>503 Service Unavailable — </a:t>
            </a:r>
            <a:r>
              <a:rPr lang="bg-BG" dirty="0" smtClean="0"/>
              <a:t>Услугата не е налична</a:t>
            </a:r>
            <a:endParaRPr lang="en-US" dirty="0"/>
          </a:p>
          <a:p>
            <a:endParaRPr lang="en-US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475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Глобано управление на грешки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149256"/>
            <a:ext cx="10147330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@ControllerAdvice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ExceptionsHandler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@ExceptionHandler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protected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handleException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exception,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Model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model) {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model.addAttribute(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"message"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exception.getMessage());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"/errors/errors"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bg-BG" altLang="bg-BG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29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400" dirty="0" smtClean="0"/>
              <a:t>Управление на грешки на ниво контролер</a:t>
            </a:r>
            <a:endParaRPr lang="bg-BG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3041807"/>
            <a:ext cx="9708107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@ExceptionHandler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SchoolNotFoundException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handleException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SchoolNotFoundException 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exception, 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Model 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model) {</a:t>
            </a:r>
            <a:b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model.addAttribute(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"message"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exception.getMessage());</a:t>
            </a:r>
            <a:b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"/errors/school-errors"</a:t>
            </a: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bg-BG" altLang="bg-BG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bg-BG" altLang="bg-BG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388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C3758-13D1-431B-AC81-8115E2D7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600" dirty="0"/>
              <a:t>Благодаря за вниманието!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69C64A-705C-4021-BEFE-4A2E87EB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434558"/>
          </a:xfrm>
        </p:spPr>
        <p:txBody>
          <a:bodyPr/>
          <a:lstStyle/>
          <a:p>
            <a:r>
              <a:rPr lang="en-US" cap="none" dirty="0"/>
              <a:t>hkostadinova@gmail.com</a:t>
            </a:r>
            <a:endParaRPr lang="bg-BG" cap="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4EAD8-EA14-40A7-9689-D356F038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17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110247</TotalTime>
  <Words>215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JetBrains Mono</vt:lpstr>
      <vt:lpstr>Wingdings</vt:lpstr>
      <vt:lpstr>Retrospect</vt:lpstr>
      <vt:lpstr>CSCB869 Java Web Services</vt:lpstr>
      <vt:lpstr>Съдържание</vt:lpstr>
      <vt:lpstr>HTTP Status Codes</vt:lpstr>
      <vt:lpstr>HTTP Status Codes</vt:lpstr>
      <vt:lpstr>Глобано управление на грешки</vt:lpstr>
      <vt:lpstr>Управление на грешки на ниво контролер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CSCB415 Лабораторни занятия по Java</dc:title>
  <dc:creator>Kostadinova</dc:creator>
  <cp:lastModifiedBy>Kostadinova</cp:lastModifiedBy>
  <cp:revision>1427</cp:revision>
  <dcterms:created xsi:type="dcterms:W3CDTF">2018-07-12T12:35:35Z</dcterms:created>
  <dcterms:modified xsi:type="dcterms:W3CDTF">2020-11-06T15:15:14Z</dcterms:modified>
</cp:coreProperties>
</file>