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6" r:id="rId2"/>
    <p:sldId id="336" r:id="rId3"/>
    <p:sldId id="360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6" r:id="rId12"/>
    <p:sldId id="344" r:id="rId13"/>
    <p:sldId id="345" r:id="rId14"/>
    <p:sldId id="347" r:id="rId15"/>
    <p:sldId id="350" r:id="rId16"/>
    <p:sldId id="349" r:id="rId17"/>
    <p:sldId id="351" r:id="rId18"/>
    <p:sldId id="352" r:id="rId19"/>
    <p:sldId id="353" r:id="rId20"/>
    <p:sldId id="354" r:id="rId21"/>
    <p:sldId id="355" r:id="rId22"/>
    <p:sldId id="358" r:id="rId23"/>
    <p:sldId id="356" r:id="rId24"/>
    <p:sldId id="357" r:id="rId25"/>
    <p:sldId id="348" r:id="rId26"/>
    <p:sldId id="365" r:id="rId27"/>
    <p:sldId id="362" r:id="rId28"/>
    <p:sldId id="361" r:id="rId29"/>
    <p:sldId id="30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>
        <p:scale>
          <a:sx n="75" d="100"/>
          <a:sy n="75" d="100"/>
        </p:scale>
        <p:origin x="97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F26A4-3D0C-4F46-9E17-23A17F4C1F18}" type="datetimeFigureOut">
              <a:rPr lang="bg-BG" smtClean="0"/>
              <a:t>10.12.2020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37892-EBC3-40FE-B04E-4AB54202977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043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F6E2-930B-4D3F-AA22-87A9BFA33EC6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358B-8B28-4968-AF9F-2548E5758FCC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1444-3193-4684-8666-C4B6B80732D1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AFBC-BC02-4151-94E7-DE32C5B289F9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86C-3D32-4A4F-BBEA-07E55B6F8A3C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1394-07B9-4C2C-9CF2-AE4CE436CFC4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E95E-6310-4C1D-8E8A-E1CF2650E143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8A5940-9D6F-44F2-BF6C-D077A3A132F5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3ED5-624B-4FA7-AE2E-F44F8CD3CEE5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8A96-A7FC-4EBC-BD1E-D756D136F746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997E-0AED-4623-B8EF-425E1B40E9E7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94312-28F8-481C-BAD0-9E7BC9DC1C73}" type="datetime1">
              <a:rPr lang="en-US" smtClean="0"/>
              <a:t>12/10/2020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kostadinov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.io/projects/spring-framewor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/docs/current/spring-framework-reference/core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958-C2AE-4D86-96E8-03438CB17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CSCB869 Java Web Services</a:t>
            </a:r>
            <a:endParaRPr lang="bg-BG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9F8A0-9612-49E7-BA45-800CC9C5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53596"/>
            <a:ext cx="10058400" cy="1673036"/>
          </a:xfrm>
        </p:spPr>
        <p:txBody>
          <a:bodyPr>
            <a:noAutofit/>
          </a:bodyPr>
          <a:lstStyle/>
          <a:p>
            <a:r>
              <a:rPr lang="bg-BG" b="1" dirty="0"/>
              <a:t>Гл. ас. д-р Христина </a:t>
            </a:r>
            <a:r>
              <a:rPr lang="bg-BG" b="1" dirty="0" smtClean="0"/>
              <a:t>Костадинова</a:t>
            </a:r>
            <a:r>
              <a:rPr lang="en-US" b="1" dirty="0" smtClean="0"/>
              <a:t>, </a:t>
            </a:r>
            <a:r>
              <a:rPr lang="en-US" b="1" cap="none" dirty="0" smtClean="0">
                <a:hlinkClick r:id="rId2"/>
              </a:rPr>
              <a:t>hkostadinova@gmail.com</a:t>
            </a:r>
            <a:endParaRPr lang="en-US" sz="1200" cap="none" dirty="0" smtClean="0"/>
          </a:p>
          <a:p>
            <a:endParaRPr lang="bg-BG" sz="1200" cap="none" dirty="0"/>
          </a:p>
          <a:p>
            <a:endParaRPr lang="bg-BG" sz="1200" cap="none" dirty="0"/>
          </a:p>
          <a:p>
            <a:endParaRPr lang="bg-BG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B05C-EC2B-4E5D-9A21-5D0F4F1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Inside Spring - </a:t>
            </a:r>
            <a:r>
              <a:rPr lang="en-US" sz="2400" dirty="0">
                <a:hlinkClick r:id="rId2"/>
              </a:rPr>
              <a:t>https://spring.io/projects/spring-framework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Servlets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err="1" smtClean="0"/>
              <a:t>IoC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Beans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Dependency injection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Annotations</a:t>
            </a:r>
            <a:r>
              <a:rPr lang="en-US" sz="2400" dirty="0"/>
              <a:t>	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35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Servlets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sz="2400" dirty="0" smtClean="0"/>
              <a:t>Използват се за управление на заявки към и отговори от сървър</a:t>
            </a:r>
          </a:p>
          <a:p>
            <a:r>
              <a:rPr lang="bg-BG" sz="2400" dirty="0" smtClean="0"/>
              <a:t>Жизнен цикъл: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nit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ervice()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estroy()</a:t>
            </a:r>
          </a:p>
          <a:p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Servlet Container (Servlet Engine) –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съвкупност от компоненти за работа със </a:t>
            </a:r>
            <a:r>
              <a:rPr lang="bg-BG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сървлети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55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Inversion of Control (</a:t>
            </a:r>
            <a:r>
              <a:rPr lang="en-US" dirty="0" err="1" smtClean="0"/>
              <a:t>IoC</a:t>
            </a:r>
            <a:r>
              <a:rPr lang="en-US" dirty="0" smtClean="0"/>
              <a:t>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Inversion of </a:t>
            </a:r>
            <a:r>
              <a:rPr lang="en-US" dirty="0" smtClean="0"/>
              <a:t>Control (</a:t>
            </a:r>
            <a:r>
              <a:rPr lang="en-US" dirty="0" err="1" smtClean="0"/>
              <a:t>IoC</a:t>
            </a:r>
            <a:r>
              <a:rPr lang="en-US" dirty="0" smtClean="0"/>
              <a:t>) – </a:t>
            </a:r>
            <a:r>
              <a:rPr lang="bg-BG" dirty="0" smtClean="0"/>
              <a:t>процес</a:t>
            </a:r>
            <a:r>
              <a:rPr lang="en-US" dirty="0" smtClean="0"/>
              <a:t>,</a:t>
            </a:r>
            <a:r>
              <a:rPr lang="bg-BG" dirty="0" smtClean="0"/>
              <a:t> </a:t>
            </a:r>
            <a:r>
              <a:rPr lang="bg-BG" dirty="0" smtClean="0"/>
              <a:t>при който </a:t>
            </a:r>
            <a:r>
              <a:rPr lang="bg-BG" dirty="0" smtClean="0"/>
              <a:t>обект</a:t>
            </a:r>
            <a:r>
              <a:rPr lang="bg-BG" dirty="0" smtClean="0"/>
              <a:t>ът</a:t>
            </a:r>
            <a:r>
              <a:rPr lang="bg-BG" dirty="0" smtClean="0"/>
              <a:t> </a:t>
            </a:r>
            <a:r>
              <a:rPr lang="bg-BG" dirty="0" smtClean="0"/>
              <a:t>дефинира зависимости, без да ги създава. Контролът върху създаването на обектите се предава на „контейнер“ (</a:t>
            </a:r>
            <a:r>
              <a:rPr lang="en-US" dirty="0" err="1"/>
              <a:t>IoC</a:t>
            </a:r>
            <a:r>
              <a:rPr lang="en-US" dirty="0"/>
              <a:t> container</a:t>
            </a:r>
            <a:r>
              <a:rPr lang="bg-BG" dirty="0" smtClean="0"/>
              <a:t>) или </a:t>
            </a:r>
            <a:r>
              <a:rPr lang="en-US" dirty="0" smtClean="0"/>
              <a:t>framework. </a:t>
            </a:r>
            <a:endParaRPr lang="bg-BG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bg-BG" dirty="0" smtClean="0"/>
              <a:t>Предимства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bg-BG" dirty="0" smtClean="0"/>
              <a:t>Изпълнението на задачите и имплементацията се разделят</a:t>
            </a:r>
            <a:endParaRPr lang="en-US" dirty="0"/>
          </a:p>
          <a:p>
            <a:pPr lvl="1"/>
            <a:r>
              <a:rPr lang="bg-BG" dirty="0" smtClean="0"/>
              <a:t>По-лесно минаваме от една имплементация на друга</a:t>
            </a:r>
            <a:endParaRPr lang="en-US" dirty="0"/>
          </a:p>
          <a:p>
            <a:pPr lvl="1"/>
            <a:r>
              <a:rPr lang="bg-BG" dirty="0" smtClean="0"/>
              <a:t>Тестването е по-лесно, защото компонентите не са свързани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Inversion of Control </a:t>
            </a:r>
            <a:r>
              <a:rPr lang="bg-BG" dirty="0" smtClean="0"/>
              <a:t>постигаме чрез: </a:t>
            </a:r>
            <a:r>
              <a:rPr lang="en-US" dirty="0" smtClean="0"/>
              <a:t>Strategy </a:t>
            </a:r>
            <a:r>
              <a:rPr lang="en-US" dirty="0"/>
              <a:t>design pattern, </a:t>
            </a:r>
            <a:r>
              <a:rPr lang="en-US" dirty="0" smtClean="0"/>
              <a:t>Factory </a:t>
            </a:r>
            <a:r>
              <a:rPr lang="en-US" dirty="0"/>
              <a:t>pattern, </a:t>
            </a:r>
            <a:r>
              <a:rPr lang="bg-BG" dirty="0" smtClean="0"/>
              <a:t>и</a:t>
            </a:r>
            <a:r>
              <a:rPr lang="en-US" dirty="0" smtClean="0"/>
              <a:t> </a:t>
            </a:r>
            <a:r>
              <a:rPr lang="en-US" dirty="0"/>
              <a:t>Dependency Injection (DI</a:t>
            </a:r>
            <a:r>
              <a:rPr lang="en-US" dirty="0" smtClean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2983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Пример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592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Company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Address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Company(Address address)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this.address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address;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bg-B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getter, setter and other properties</a:t>
            </a:r>
          </a:p>
          <a:p>
            <a:pPr marL="0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Address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street;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number;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Address(String street,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number)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this.street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street;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this.number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number;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bg-B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getters and setters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bg-BG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5000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Зависимости между обекти - Традиционен подход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16832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Address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new Address("High Street", 1000);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Company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new Company(address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// Тясна връзка между обектите (</a:t>
            </a: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Tight coupling</a:t>
            </a:r>
            <a:r>
              <a:rPr lang="bg-BG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7163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IoC</a:t>
            </a:r>
            <a:r>
              <a:rPr lang="en-US" dirty="0" smtClean="0"/>
              <a:t> </a:t>
            </a:r>
            <a:r>
              <a:rPr lang="bg-BG" dirty="0" smtClean="0"/>
              <a:t>контейнер в </a:t>
            </a:r>
            <a:r>
              <a:rPr lang="en-US" dirty="0" smtClean="0"/>
              <a:t>Spring Framework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IoC</a:t>
            </a:r>
            <a:r>
              <a:rPr lang="en-US" dirty="0" smtClean="0"/>
              <a:t> container </a:t>
            </a:r>
            <a:r>
              <a:rPr lang="bg-BG" dirty="0" smtClean="0"/>
              <a:t>е представен от интерфейс </a:t>
            </a:r>
            <a:r>
              <a:rPr lang="en-US" dirty="0" err="1" smtClean="0"/>
              <a:t>ApplicationContext</a:t>
            </a:r>
            <a:r>
              <a:rPr lang="en-US" dirty="0"/>
              <a:t>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bg-BG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Контейнерът инстанцира, конфигурира, свързва и управлява жизнения цикъл на обекти известни като „</a:t>
            </a:r>
            <a:r>
              <a:rPr lang="en-US" b="1" dirty="0" smtClean="0"/>
              <a:t>beans</a:t>
            </a:r>
            <a:r>
              <a:rPr lang="bg-BG" dirty="0" smtClean="0"/>
              <a:t>“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Контейнерът използва конфигурационни метаданни (под формата на анотация) за свързване на обектите.</a:t>
            </a:r>
          </a:p>
          <a:p>
            <a:pPr>
              <a:buFont typeface="Wingdings" panose="05000000000000000000" pitchFamily="2" charset="2"/>
              <a:buChar char="Ø"/>
            </a:pPr>
            <a:endParaRPr lang="bg-BG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Контейнерът чете метаданните и свързва обектите (</a:t>
            </a:r>
            <a:r>
              <a:rPr lang="en-US" dirty="0" smtClean="0"/>
              <a:t>beans</a:t>
            </a:r>
            <a:r>
              <a:rPr lang="bg-BG" dirty="0" smtClean="0"/>
              <a:t>) по време на изпълнение на проекта</a:t>
            </a:r>
            <a:r>
              <a:rPr lang="en-US" dirty="0" smtClean="0"/>
              <a:t>.</a:t>
            </a:r>
            <a:endParaRPr lang="bg-BG" b="1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9339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IoC</a:t>
            </a:r>
            <a:r>
              <a:rPr lang="en-US" b="1" dirty="0"/>
              <a:t> </a:t>
            </a:r>
            <a:r>
              <a:rPr lang="bg-BG" b="1" dirty="0" smtClean="0"/>
              <a:t>в действие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4121" y="2098867"/>
            <a:ext cx="9704717" cy="3999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ApplicationContext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context = 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AnnotationConfigApplicationContext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Config.class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Company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context.getBean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("company",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Company.class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IoC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container </a:t>
            </a:r>
            <a:r>
              <a:rPr lang="bg-BG" dirty="0" smtClean="0">
                <a:latin typeface="Calibri" panose="020F0502020204030204" pitchFamily="34" charset="0"/>
                <a:cs typeface="Calibri" panose="020F0502020204030204" pitchFamily="34" charset="0"/>
              </a:rPr>
              <a:t>създава и инициализира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beans</a:t>
            </a:r>
            <a:r>
              <a:rPr lang="bg-BG" dirty="0" smtClean="0">
                <a:latin typeface="Calibri" panose="020F0502020204030204" pitchFamily="34" charset="0"/>
                <a:cs typeface="Calibri" panose="020F0502020204030204" pitchFamily="34" charset="0"/>
              </a:rPr>
              <a:t> правилно </a:t>
            </a:r>
            <a:r>
              <a:rPr lang="bg-BG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  <a:endParaRPr lang="bg-B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04719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Spring Bean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b="1" dirty="0" smtClean="0"/>
              <a:t>Bean</a:t>
            </a:r>
            <a:r>
              <a:rPr lang="en-US" dirty="0" smtClean="0"/>
              <a:t> </a:t>
            </a:r>
            <a:r>
              <a:rPr lang="bg-BG" dirty="0" smtClean="0"/>
              <a:t>е ключово  понятие в</a:t>
            </a:r>
            <a:r>
              <a:rPr lang="en-US" dirty="0" smtClean="0"/>
              <a:t> </a:t>
            </a:r>
            <a:r>
              <a:rPr lang="en-US" dirty="0"/>
              <a:t>Spring </a:t>
            </a:r>
            <a:r>
              <a:rPr lang="en-US" dirty="0" smtClean="0"/>
              <a:t>Framework</a:t>
            </a:r>
            <a:r>
              <a:rPr lang="bg-BG" dirty="0"/>
              <a:t> </a:t>
            </a:r>
            <a:r>
              <a:rPr lang="bg-BG" dirty="0" smtClean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bg-BG" dirty="0" smtClean="0"/>
              <a:t>Няма точно определение за това какво е </a:t>
            </a:r>
            <a:r>
              <a:rPr lang="en-US" b="1" dirty="0" smtClean="0"/>
              <a:t>bean</a:t>
            </a:r>
            <a:r>
              <a:rPr lang="en-US" dirty="0" smtClean="0"/>
              <a:t> </a:t>
            </a:r>
            <a:r>
              <a:rPr lang="bg-BG" dirty="0" smtClean="0"/>
              <a:t>в </a:t>
            </a:r>
            <a:r>
              <a:rPr lang="en-US" dirty="0" smtClean="0"/>
              <a:t>Spring Framework </a:t>
            </a:r>
            <a:r>
              <a:rPr lang="en-US" dirty="0" smtClean="0">
                <a:sym typeface="Wingdings" panose="05000000000000000000" pitchFamily="2" charset="2"/>
              </a:rPr>
              <a:t></a:t>
            </a:r>
            <a:endParaRPr lang="en-US" b="1" dirty="0" smtClean="0"/>
          </a:p>
          <a:p>
            <a:pPr>
              <a:spcBef>
                <a:spcPts val="1800"/>
              </a:spcBef>
            </a:pPr>
            <a:r>
              <a:rPr lang="bg-BG" i="1" dirty="0" smtClean="0"/>
              <a:t>Обект, който формира скелета на приложението и се управлява от </a:t>
            </a:r>
            <a:r>
              <a:rPr lang="en-US" i="1" dirty="0" smtClean="0"/>
              <a:t>Spring </a:t>
            </a:r>
            <a:r>
              <a:rPr lang="en-US" i="1" dirty="0" err="1"/>
              <a:t>IoC</a:t>
            </a:r>
            <a:r>
              <a:rPr lang="en-US" i="1" dirty="0"/>
              <a:t> </a:t>
            </a:r>
            <a:r>
              <a:rPr lang="bg-BG" i="1" dirty="0" smtClean="0"/>
              <a:t>контейнер се нарича</a:t>
            </a:r>
            <a:r>
              <a:rPr lang="bg-BG" i="1" dirty="0"/>
              <a:t> </a:t>
            </a:r>
            <a:r>
              <a:rPr lang="en-US" b="1" i="1" dirty="0" smtClean="0"/>
              <a:t>bean</a:t>
            </a:r>
            <a:r>
              <a:rPr lang="en-US" i="1" dirty="0" smtClean="0"/>
              <a:t>. </a:t>
            </a:r>
            <a:endParaRPr lang="bg-BG" i="1" dirty="0" smtClean="0"/>
          </a:p>
          <a:p>
            <a:pPr>
              <a:spcBef>
                <a:spcPts val="1800"/>
              </a:spcBef>
            </a:pPr>
            <a:r>
              <a:rPr lang="en-US" b="1" i="1" dirty="0" smtClean="0"/>
              <a:t>Bean</a:t>
            </a:r>
            <a:r>
              <a:rPr lang="en-US" i="1" dirty="0" smtClean="0"/>
              <a:t> </a:t>
            </a:r>
            <a:r>
              <a:rPr lang="bg-BG" i="1" dirty="0" smtClean="0"/>
              <a:t>– </a:t>
            </a:r>
            <a:r>
              <a:rPr lang="bg-BG" i="1" dirty="0" smtClean="0"/>
              <a:t>обект</a:t>
            </a:r>
            <a:r>
              <a:rPr lang="bg-BG" i="1" dirty="0" smtClean="0"/>
              <a:t>, който се инстанцира, свързва и управлява от </a:t>
            </a:r>
            <a:r>
              <a:rPr lang="en-US" i="1" dirty="0" smtClean="0"/>
              <a:t>Spring </a:t>
            </a:r>
            <a:r>
              <a:rPr lang="en-US" i="1" dirty="0" err="1"/>
              <a:t>IoC</a:t>
            </a:r>
            <a:r>
              <a:rPr lang="en-US" i="1" dirty="0"/>
              <a:t> </a:t>
            </a:r>
            <a:r>
              <a:rPr lang="bg-BG" i="1" dirty="0" smtClean="0"/>
              <a:t>контейнер</a:t>
            </a:r>
            <a:r>
              <a:rPr lang="en-US" i="1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https://docs.spring.io/spring/docs/current/spring-framework-reference/core.html</a:t>
            </a:r>
            <a:endParaRPr lang="en-US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6309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b="1" dirty="0" smtClean="0"/>
              <a:t>Пример - </a:t>
            </a:r>
            <a:r>
              <a:rPr lang="en-US" b="1" dirty="0" smtClean="0"/>
              <a:t>Bean Configuration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18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Company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bg-B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Configuration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ComponentScan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basePackageClasses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Company.class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@Bean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Address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getAddress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Address("High Street", 1000);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// Loose coupling!!!</a:t>
            </a:r>
            <a:endParaRPr lang="bg-BG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4977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577" y="533400"/>
            <a:ext cx="9262919" cy="9906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IoC</a:t>
            </a:r>
            <a:r>
              <a:rPr lang="en-US" dirty="0" smtClean="0"/>
              <a:t> Container </a:t>
            </a:r>
            <a:r>
              <a:rPr lang="bg-BG" dirty="0" smtClean="0"/>
              <a:t>и </a:t>
            </a:r>
            <a:r>
              <a:rPr lang="en-US" dirty="0" smtClean="0"/>
              <a:t>Dependency Injection (DI)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7577" y="2055222"/>
            <a:ext cx="8913223" cy="4614137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b="1" dirty="0" smtClean="0"/>
              <a:t>Dependency Injection</a:t>
            </a:r>
            <a:r>
              <a:rPr lang="bg-BG" dirty="0" smtClean="0"/>
              <a:t> е процес на дефиниране на зависимостите между обектите</a:t>
            </a:r>
            <a:r>
              <a:rPr lang="en-US" dirty="0" smtClean="0"/>
              <a:t> </a:t>
            </a:r>
            <a:r>
              <a:rPr lang="bg-BG" dirty="0" smtClean="0"/>
              <a:t>чрез аргументи на конструктор, аргументи на </a:t>
            </a:r>
            <a:r>
              <a:rPr lang="en-US" dirty="0" smtClean="0"/>
              <a:t>factory </a:t>
            </a:r>
            <a:r>
              <a:rPr lang="bg-BG" dirty="0" smtClean="0"/>
              <a:t>метод</a:t>
            </a:r>
            <a:r>
              <a:rPr lang="en-US" dirty="0" smtClean="0"/>
              <a:t>, </a:t>
            </a:r>
            <a:r>
              <a:rPr lang="bg-BG" dirty="0" smtClean="0"/>
              <a:t>или свойства на обектите.</a:t>
            </a:r>
          </a:p>
          <a:p>
            <a:pPr>
              <a:spcBef>
                <a:spcPts val="1800"/>
              </a:spcBef>
            </a:pPr>
            <a:r>
              <a:rPr lang="bg-BG" dirty="0" smtClean="0"/>
              <a:t>Контейнерът инжектира тези зависимости, когато създава</a:t>
            </a:r>
            <a:r>
              <a:rPr lang="en-US" dirty="0" smtClean="0"/>
              <a:t> </a:t>
            </a:r>
            <a:r>
              <a:rPr lang="en-US" b="1" dirty="0"/>
              <a:t>bean</a:t>
            </a:r>
            <a:r>
              <a:rPr lang="en-US" dirty="0"/>
              <a:t>. </a:t>
            </a:r>
            <a:endParaRPr lang="en-US" dirty="0" smtClean="0"/>
          </a:p>
          <a:p>
            <a:pPr>
              <a:spcBef>
                <a:spcPts val="1800"/>
              </a:spcBef>
            </a:pPr>
            <a:r>
              <a:rPr lang="bg-BG" dirty="0" smtClean="0"/>
              <a:t>Пакетите </a:t>
            </a:r>
            <a:r>
              <a:rPr lang="en-US" b="1" dirty="0" err="1" smtClean="0"/>
              <a:t>org.springframework.beans</a:t>
            </a:r>
            <a:r>
              <a:rPr lang="en-US" dirty="0" smtClean="0"/>
              <a:t> </a:t>
            </a:r>
            <a:r>
              <a:rPr lang="bg-BG" dirty="0" smtClean="0"/>
              <a:t>и</a:t>
            </a:r>
            <a:r>
              <a:rPr lang="en-US" dirty="0" smtClean="0"/>
              <a:t> </a:t>
            </a:r>
            <a:r>
              <a:rPr lang="en-US" b="1" dirty="0" err="1"/>
              <a:t>org.springframework.context</a:t>
            </a:r>
            <a:r>
              <a:rPr lang="en-US" dirty="0"/>
              <a:t> </a:t>
            </a:r>
            <a:r>
              <a:rPr lang="bg-BG" dirty="0" smtClean="0"/>
              <a:t>са основните, които се използват за работата на </a:t>
            </a:r>
            <a:r>
              <a:rPr lang="en-US" b="1" dirty="0" smtClean="0"/>
              <a:t>Spring </a:t>
            </a:r>
            <a:r>
              <a:rPr lang="en-US" b="1" dirty="0" err="1" smtClean="0"/>
              <a:t>IoC</a:t>
            </a:r>
            <a:r>
              <a:rPr lang="en-US" b="1" dirty="0" smtClean="0"/>
              <a:t> </a:t>
            </a:r>
            <a:r>
              <a:rPr lang="bg-BG" b="1" dirty="0" smtClean="0"/>
              <a:t>контейнера</a:t>
            </a:r>
            <a:r>
              <a:rPr lang="en-US" dirty="0" smtClean="0"/>
              <a:t>. </a:t>
            </a:r>
            <a:endParaRPr lang="bg-BG" dirty="0" smtClean="0"/>
          </a:p>
          <a:p>
            <a:pPr>
              <a:spcBef>
                <a:spcPts val="1800"/>
              </a:spcBef>
            </a:pPr>
            <a:r>
              <a:rPr lang="bg-BG" dirty="0" smtClean="0"/>
              <a:t>Интерфейсът </a:t>
            </a:r>
            <a:r>
              <a:rPr lang="en-US" b="1" dirty="0" err="1" smtClean="0"/>
              <a:t>BeanFactory</a:t>
            </a:r>
            <a:r>
              <a:rPr lang="en-US" dirty="0" smtClean="0"/>
              <a:t> </a:t>
            </a:r>
            <a:r>
              <a:rPr lang="bg-BG" dirty="0" smtClean="0"/>
              <a:t>предоставя възможност за конфигуриране и управление на всеки тип обект</a:t>
            </a:r>
            <a:r>
              <a:rPr lang="en-US" dirty="0" smtClean="0"/>
              <a:t>. </a:t>
            </a:r>
            <a:r>
              <a:rPr lang="en-US" b="1" dirty="0" err="1"/>
              <a:t>ApplicationContext</a:t>
            </a:r>
            <a:r>
              <a:rPr lang="en-US" dirty="0"/>
              <a:t> </a:t>
            </a:r>
            <a:r>
              <a:rPr lang="bg-BG" dirty="0" smtClean="0"/>
              <a:t>е</a:t>
            </a:r>
            <a:r>
              <a:rPr lang="en-US" dirty="0" smtClean="0"/>
              <a:t> </a:t>
            </a:r>
            <a:r>
              <a:rPr lang="en-US" dirty="0"/>
              <a:t>sub-interface </a:t>
            </a:r>
            <a:r>
              <a:rPr lang="bg-BG" dirty="0" smtClean="0"/>
              <a:t>на</a:t>
            </a:r>
            <a:r>
              <a:rPr lang="en-US" dirty="0" smtClean="0"/>
              <a:t> </a:t>
            </a:r>
            <a:r>
              <a:rPr lang="en-US" dirty="0" err="1"/>
              <a:t>BeanFactory</a:t>
            </a:r>
            <a:r>
              <a:rPr lang="en-US" dirty="0"/>
              <a:t>. </a:t>
            </a:r>
            <a:endParaRPr lang="bg-BG" dirty="0" smtClean="0"/>
          </a:p>
          <a:p>
            <a:pPr>
              <a:spcBef>
                <a:spcPts val="1800"/>
              </a:spcBef>
            </a:pPr>
            <a:r>
              <a:rPr lang="en-US" dirty="0"/>
              <a:t>Dependency Injection </a:t>
            </a:r>
            <a:r>
              <a:rPr lang="bg-BG" dirty="0" smtClean="0"/>
              <a:t>в</a:t>
            </a:r>
            <a:r>
              <a:rPr lang="en-US" dirty="0" smtClean="0"/>
              <a:t> </a:t>
            </a:r>
            <a:r>
              <a:rPr lang="en-US" dirty="0"/>
              <a:t>Spring </a:t>
            </a:r>
            <a:r>
              <a:rPr lang="bg-BG" dirty="0"/>
              <a:t>се извършва чрез </a:t>
            </a:r>
            <a:r>
              <a:rPr lang="bg-BG" b="1" dirty="0"/>
              <a:t>конструктори,</a:t>
            </a:r>
            <a:r>
              <a:rPr lang="en-US" b="1" dirty="0"/>
              <a:t> setters </a:t>
            </a:r>
            <a:r>
              <a:rPr lang="bg-BG" b="1" dirty="0"/>
              <a:t>или полета (</a:t>
            </a:r>
            <a:r>
              <a:rPr lang="en-US" b="1" dirty="0"/>
              <a:t>fields</a:t>
            </a:r>
            <a:r>
              <a:rPr lang="bg-BG" b="1" dirty="0"/>
              <a:t>)</a:t>
            </a:r>
            <a:r>
              <a:rPr lang="en-US" dirty="0"/>
              <a:t>.</a:t>
            </a:r>
            <a:endParaRPr lang="bg-BG" dirty="0"/>
          </a:p>
          <a:p>
            <a:pPr>
              <a:spcBef>
                <a:spcPts val="18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27785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Dependency Injection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Dependency injection </a:t>
            </a:r>
            <a:r>
              <a:rPr lang="bg-BG" dirty="0" smtClean="0"/>
              <a:t>е </a:t>
            </a:r>
            <a:r>
              <a:rPr lang="en-US" dirty="0" smtClean="0"/>
              <a:t>design </a:t>
            </a:r>
            <a:r>
              <a:rPr lang="en-US" dirty="0"/>
              <a:t>pattern </a:t>
            </a:r>
            <a:r>
              <a:rPr lang="bg-BG" dirty="0" smtClean="0"/>
              <a:t>за имплементация на </a:t>
            </a:r>
            <a:r>
              <a:rPr lang="en-US" dirty="0" err="1" smtClean="0"/>
              <a:t>IoC</a:t>
            </a:r>
            <a:r>
              <a:rPr lang="en-US" dirty="0" smtClean="0"/>
              <a:t>.</a:t>
            </a:r>
            <a:endParaRPr lang="en-US" dirty="0"/>
          </a:p>
          <a:p>
            <a:r>
              <a:rPr lang="bg-BG" dirty="0" smtClean="0"/>
              <a:t>Действието за свързване на обектите с други обекти</a:t>
            </a:r>
            <a:r>
              <a:rPr lang="en-US" dirty="0" smtClean="0"/>
              <a:t>, </a:t>
            </a:r>
            <a:r>
              <a:rPr lang="bg-BG" dirty="0" smtClean="0"/>
              <a:t>или</a:t>
            </a:r>
            <a:r>
              <a:rPr lang="en-US" dirty="0" smtClean="0"/>
              <a:t> </a:t>
            </a:r>
            <a:r>
              <a:rPr lang="en-US" dirty="0"/>
              <a:t>“injecting” </a:t>
            </a:r>
            <a:r>
              <a:rPr lang="bg-BG" dirty="0" smtClean="0"/>
              <a:t>на обекти в други обекти се прави с външни средства</a:t>
            </a:r>
            <a:r>
              <a:rPr lang="en-US" dirty="0" smtClean="0"/>
              <a:t>.</a:t>
            </a:r>
            <a:endParaRPr lang="en-US" dirty="0"/>
          </a:p>
          <a:p>
            <a:r>
              <a:rPr lang="bg-BG" dirty="0" smtClean="0"/>
              <a:t>Създаване на обект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Store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Item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bg-B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Store()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item = new ItemImpl1();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4639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Dependency Injection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Store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Item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Store(Item item)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this.item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item;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bg-B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32419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Dependency Injection </a:t>
            </a:r>
            <a:r>
              <a:rPr lang="bg-BG" sz="3600" b="1" dirty="0"/>
              <a:t>чрез конструктор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67980"/>
          </a:xfrm>
        </p:spPr>
        <p:txBody>
          <a:bodyPr>
            <a:noAutofit/>
          </a:bodyPr>
          <a:lstStyle/>
          <a:p>
            <a:r>
              <a:rPr lang="bg-BG" sz="1400" dirty="0" smtClean="0"/>
              <a:t>Контейнерът извиква конструктор с </a:t>
            </a:r>
            <a:r>
              <a:rPr lang="bg-BG" sz="1400" dirty="0" smtClean="0"/>
              <a:t>аргумент</a:t>
            </a:r>
            <a:r>
              <a:rPr lang="bg-BG" sz="1400" dirty="0" smtClean="0"/>
              <a:t>, всеки от които е зависимост</a:t>
            </a:r>
            <a:r>
              <a:rPr lang="en-US" sz="1400" dirty="0" smtClean="0"/>
              <a:t>.</a:t>
            </a:r>
            <a:endParaRPr lang="en-US" sz="1400" dirty="0"/>
          </a:p>
          <a:p>
            <a:r>
              <a:rPr lang="en-US" sz="1400" dirty="0"/>
              <a:t>Spring </a:t>
            </a:r>
            <a:r>
              <a:rPr lang="bg-BG" sz="1400" dirty="0" smtClean="0"/>
              <a:t>определя всеки аргумент по тип</a:t>
            </a:r>
            <a:r>
              <a:rPr lang="en-US" sz="1400" dirty="0" smtClean="0"/>
              <a:t>, </a:t>
            </a:r>
            <a:r>
              <a:rPr lang="bg-BG" sz="1400" dirty="0" smtClean="0"/>
              <a:t>след това по име на атрибута и индекс, за да няма двусмислие</a:t>
            </a:r>
            <a:r>
              <a:rPr lang="en-US" sz="1400" dirty="0" smtClean="0"/>
              <a:t>. </a:t>
            </a:r>
            <a:endParaRPr lang="bg-BG" sz="1400" dirty="0" smtClean="0"/>
          </a:p>
          <a:p>
            <a:pPr marL="0" indent="0">
              <a:buNone/>
            </a:pPr>
            <a:r>
              <a:rPr lang="bg-B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Конфигурация на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bean</a:t>
            </a:r>
            <a:r>
              <a:rPr lang="bg-BG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и неговите зависимости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Configuration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AppConfig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@Bean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Item item1()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ItemImpl1();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@Bean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Store store()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Store(item1());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bg-BG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35677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DI </a:t>
            </a:r>
            <a:r>
              <a:rPr lang="bg-BG" sz="3200" b="1" dirty="0"/>
              <a:t>чрез конструктор и </a:t>
            </a:r>
            <a:r>
              <a:rPr lang="en-US" sz="3200" b="1" dirty="0"/>
              <a:t>setter </a:t>
            </a:r>
            <a:r>
              <a:rPr lang="bg-BG" sz="3200" b="1" dirty="0"/>
              <a:t>метод</a:t>
            </a:r>
            <a:endParaRPr lang="bg-BG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DI </a:t>
            </a:r>
            <a:r>
              <a:rPr lang="bg-BG" dirty="0" smtClean="0"/>
              <a:t>чрез конструктор и </a:t>
            </a:r>
            <a:r>
              <a:rPr lang="en-US" dirty="0" smtClean="0"/>
              <a:t>setter </a:t>
            </a:r>
            <a:r>
              <a:rPr lang="bg-BG" dirty="0" smtClean="0"/>
              <a:t>методи може да се комбинира в един и същи </a:t>
            </a:r>
            <a:r>
              <a:rPr lang="en-US" dirty="0" smtClean="0"/>
              <a:t>bean</a:t>
            </a:r>
            <a:r>
              <a:rPr lang="bg-BG" dirty="0"/>
              <a:t>:</a:t>
            </a:r>
            <a:endParaRPr lang="bg-BG" dirty="0" smtClean="0"/>
          </a:p>
          <a:p>
            <a:pPr marL="0" indent="0">
              <a:buNone/>
            </a:pPr>
            <a:r>
              <a:rPr lang="en-US" dirty="0" smtClean="0"/>
              <a:t>DI </a:t>
            </a:r>
            <a:r>
              <a:rPr lang="bg-BG" dirty="0" smtClean="0"/>
              <a:t>чрез </a:t>
            </a:r>
            <a:r>
              <a:rPr lang="bg-BG" dirty="0" smtClean="0"/>
              <a:t>конструктор </a:t>
            </a:r>
            <a:r>
              <a:rPr lang="bg-BG" dirty="0" smtClean="0"/>
              <a:t>при задължителни </a:t>
            </a:r>
            <a:r>
              <a:rPr lang="bg-BG" dirty="0" smtClean="0"/>
              <a:t>зависимости</a:t>
            </a:r>
          </a:p>
          <a:p>
            <a:pPr marL="0" indent="0">
              <a:buNone/>
            </a:pPr>
            <a:r>
              <a:rPr lang="en-US" dirty="0" smtClean="0"/>
              <a:t>DI </a:t>
            </a:r>
            <a:r>
              <a:rPr lang="bg-BG" dirty="0" smtClean="0"/>
              <a:t>чрез </a:t>
            </a:r>
            <a:r>
              <a:rPr lang="en-US" dirty="0" smtClean="0"/>
              <a:t>setter</a:t>
            </a:r>
            <a:r>
              <a:rPr lang="bg-BG" dirty="0" smtClean="0"/>
              <a:t> за </a:t>
            </a:r>
            <a:r>
              <a:rPr lang="bg-BG" dirty="0" err="1" smtClean="0"/>
              <a:t>опцонални</a:t>
            </a:r>
            <a:r>
              <a:rPr lang="bg-BG" dirty="0" smtClean="0"/>
              <a:t> зависимости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95296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Dependency Injection</a:t>
            </a:r>
            <a:r>
              <a:rPr lang="bg-BG" b="1" dirty="0" smtClean="0"/>
              <a:t> чрез </a:t>
            </a:r>
            <a:r>
              <a:rPr lang="en-US" b="1" dirty="0" smtClean="0"/>
              <a:t>setter</a:t>
            </a:r>
            <a:r>
              <a:rPr lang="bg-BG" b="1" dirty="0" smtClean="0"/>
              <a:t>-и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 smtClean="0"/>
              <a:t>Контейнерът ще извика </a:t>
            </a:r>
            <a:r>
              <a:rPr lang="en-US" dirty="0" smtClean="0"/>
              <a:t>setter </a:t>
            </a:r>
            <a:r>
              <a:rPr lang="bg-BG" dirty="0" smtClean="0"/>
              <a:t>мотодите на класовете след извикване на </a:t>
            </a:r>
            <a:r>
              <a:rPr lang="bg-BG" dirty="0" err="1" smtClean="0"/>
              <a:t>констуктора</a:t>
            </a:r>
            <a:r>
              <a:rPr lang="bg-BG" dirty="0" smtClean="0"/>
              <a:t> по подразбиране </a:t>
            </a:r>
            <a:r>
              <a:rPr lang="bg-BG" dirty="0" smtClean="0"/>
              <a:t>или статичния</a:t>
            </a:r>
            <a:r>
              <a:rPr lang="en-US" dirty="0" smtClean="0"/>
              <a:t> </a:t>
            </a:r>
            <a:r>
              <a:rPr lang="en-US" dirty="0"/>
              <a:t>factory </a:t>
            </a:r>
            <a:r>
              <a:rPr lang="bg-BG" dirty="0" smtClean="0"/>
              <a:t>метод за инстанциране на</a:t>
            </a:r>
            <a:r>
              <a:rPr lang="en-US" dirty="0" smtClean="0"/>
              <a:t> bean</a:t>
            </a:r>
            <a:r>
              <a:rPr lang="bg-BG" dirty="0" smtClean="0"/>
              <a:t>-а</a:t>
            </a:r>
            <a:r>
              <a:rPr lang="en-US" dirty="0" smtClean="0"/>
              <a:t>. :</a:t>
            </a:r>
          </a:p>
          <a:p>
            <a:pPr marL="0" indent="0">
              <a:buNone/>
            </a:pPr>
            <a:r>
              <a:rPr lang="en-US" dirty="0"/>
              <a:t>@Bean</a:t>
            </a:r>
          </a:p>
          <a:p>
            <a:pPr marL="0" indent="0">
              <a:buNone/>
            </a:pPr>
            <a:r>
              <a:rPr lang="en-US" dirty="0"/>
              <a:t>public Store store() {</a:t>
            </a:r>
          </a:p>
          <a:p>
            <a:pPr marL="0" indent="0">
              <a:buNone/>
            </a:pPr>
            <a:r>
              <a:rPr lang="en-US" dirty="0"/>
              <a:t>    Store </a:t>
            </a:r>
            <a:r>
              <a:rPr lang="en-US" dirty="0" err="1"/>
              <a:t>store</a:t>
            </a:r>
            <a:r>
              <a:rPr lang="en-US" dirty="0"/>
              <a:t> = new Store();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store.setItem</a:t>
            </a:r>
            <a:r>
              <a:rPr lang="en-US" dirty="0"/>
              <a:t>(item1());</a:t>
            </a:r>
          </a:p>
          <a:p>
            <a:pPr marL="0" indent="0">
              <a:buNone/>
            </a:pPr>
            <a:r>
              <a:rPr lang="en-US" dirty="0"/>
              <a:t>    return store;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6965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Dependency </a:t>
            </a:r>
            <a:r>
              <a:rPr lang="en-US" sz="2800" b="1" dirty="0"/>
              <a:t>Injection </a:t>
            </a:r>
            <a:r>
              <a:rPr lang="bg-BG" sz="2800" b="1" dirty="0"/>
              <a:t>чрез полета (</a:t>
            </a:r>
            <a:r>
              <a:rPr lang="en-US" sz="2800" b="1" dirty="0"/>
              <a:t>Field-Based</a:t>
            </a:r>
            <a:r>
              <a:rPr lang="bg-BG" sz="2800" b="1" dirty="0"/>
              <a:t>)</a:t>
            </a:r>
            <a:r>
              <a:rPr lang="en-US" sz="2800" b="1" dirty="0"/>
              <a:t> 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bg-BG" dirty="0" smtClean="0"/>
              <a:t>По-лесен подход в сравнение с осталите 2 типа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bg-BG" dirty="0" smtClean="0"/>
              <a:t>Използва </a:t>
            </a:r>
            <a:r>
              <a:rPr lang="en-US" dirty="0" smtClean="0"/>
              <a:t>reflection </a:t>
            </a:r>
            <a:r>
              <a:rPr lang="bg-BG" dirty="0" smtClean="0"/>
              <a:t>за инжектиране на зависимостите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bg-BG" dirty="0" smtClean="0"/>
              <a:t>Може да инжектира повече от една зависимост, което помага да се спази Принципът на единствената отговорност (</a:t>
            </a:r>
            <a:r>
              <a:rPr lang="en-US" dirty="0" smtClean="0"/>
              <a:t>Single </a:t>
            </a:r>
            <a:r>
              <a:rPr lang="en-US" dirty="0"/>
              <a:t>Responsibility </a:t>
            </a:r>
            <a:r>
              <a:rPr lang="en-US" dirty="0" smtClean="0"/>
              <a:t>Principle</a:t>
            </a:r>
            <a:r>
              <a:rPr lang="bg-BG" dirty="0" smtClean="0"/>
              <a:t>)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44785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Dependency Injection</a:t>
            </a:r>
            <a:r>
              <a:rPr lang="bg-BG" b="1" dirty="0" smtClean="0"/>
              <a:t> чрез полета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 smtClean="0"/>
              <a:t>Инжектираме зависимостите чрез използване на анотацията</a:t>
            </a:r>
            <a:r>
              <a:rPr lang="en-US" dirty="0" smtClean="0"/>
              <a:t> </a:t>
            </a:r>
            <a:r>
              <a:rPr lang="en-US" dirty="0"/>
              <a:t>@</a:t>
            </a:r>
            <a:r>
              <a:rPr lang="en-US" dirty="0" err="1"/>
              <a:t>Autowired</a:t>
            </a:r>
            <a:r>
              <a:rPr lang="en-US" dirty="0"/>
              <a:t> 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Store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Autowired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Item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dirty="0" smtClean="0">
                <a:cs typeface="Courier New" panose="02070309020205020404" pitchFamily="49" charset="0"/>
              </a:rPr>
              <a:t>Когато се създава обект от тип </a:t>
            </a:r>
            <a:r>
              <a:rPr lang="en-US" dirty="0" smtClean="0">
                <a:cs typeface="Courier New" panose="02070309020205020404" pitchFamily="49" charset="0"/>
              </a:rPr>
              <a:t>Store, </a:t>
            </a:r>
            <a:r>
              <a:rPr lang="bg-BG" dirty="0" smtClean="0">
                <a:cs typeface="Courier New" panose="02070309020205020404" pitchFamily="49" charset="0"/>
              </a:rPr>
              <a:t>ако не съществува конструктор или </a:t>
            </a:r>
            <a:r>
              <a:rPr lang="en-US" dirty="0" smtClean="0">
                <a:cs typeface="Courier New" panose="02070309020205020404" pitchFamily="49" charset="0"/>
              </a:rPr>
              <a:t>setter </a:t>
            </a:r>
            <a:r>
              <a:rPr lang="bg-BG" dirty="0" smtClean="0">
                <a:cs typeface="Courier New" panose="02070309020205020404" pitchFamily="49" charset="0"/>
              </a:rPr>
              <a:t>метод за инжектиране на</a:t>
            </a:r>
            <a:r>
              <a:rPr lang="en-US" dirty="0" smtClean="0">
                <a:cs typeface="Courier New" panose="02070309020205020404" pitchFamily="49" charset="0"/>
              </a:rPr>
              <a:t> bean</a:t>
            </a:r>
            <a:r>
              <a:rPr lang="bg-BG" dirty="0" smtClean="0">
                <a:cs typeface="Courier New" panose="02070309020205020404" pitchFamily="49" charset="0"/>
              </a:rPr>
              <a:t>-а</a:t>
            </a:r>
            <a:r>
              <a:rPr lang="en-US" dirty="0" smtClean="0">
                <a:cs typeface="Courier New" panose="02070309020205020404" pitchFamily="49" charset="0"/>
              </a:rPr>
              <a:t>, </a:t>
            </a:r>
            <a:r>
              <a:rPr lang="bg-BG" dirty="0" smtClean="0">
                <a:cs typeface="Courier New" panose="02070309020205020404" pitchFamily="49" charset="0"/>
              </a:rPr>
              <a:t>контейнерът ще използва </a:t>
            </a:r>
            <a:r>
              <a:rPr lang="en-US" dirty="0" smtClean="0">
                <a:cs typeface="Courier New" panose="02070309020205020404" pitchFamily="49" charset="0"/>
              </a:rPr>
              <a:t>reflection</a:t>
            </a:r>
            <a:r>
              <a:rPr lang="bg-BG" dirty="0" smtClean="0">
                <a:cs typeface="Courier New" panose="02070309020205020404" pitchFamily="49" charset="0"/>
              </a:rPr>
              <a:t> за инжектиране на </a:t>
            </a:r>
            <a:r>
              <a:rPr lang="en-US" dirty="0" smtClean="0">
                <a:cs typeface="Courier New" panose="02070309020205020404" pitchFamily="49" charset="0"/>
              </a:rPr>
              <a:t>Item</a:t>
            </a:r>
            <a:r>
              <a:rPr lang="bg-BG" dirty="0" smtClean="0">
                <a:cs typeface="Courier New" panose="02070309020205020404" pitchFamily="49" charset="0"/>
              </a:rPr>
              <a:t> в </a:t>
            </a:r>
            <a:r>
              <a:rPr lang="en-US" dirty="0" smtClean="0">
                <a:cs typeface="Courier New" panose="02070309020205020404" pitchFamily="49" charset="0"/>
              </a:rPr>
              <a:t>Store</a:t>
            </a:r>
            <a:r>
              <a:rPr lang="en-US" dirty="0">
                <a:cs typeface="Courier New" panose="02070309020205020404" pitchFamily="49" charset="0"/>
              </a:rPr>
              <a:t>.</a:t>
            </a:r>
            <a:endParaRPr lang="bg-BG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09462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Autowiring</a:t>
            </a:r>
            <a:r>
              <a:rPr lang="en-US" b="1" dirty="0"/>
              <a:t> </a:t>
            </a:r>
            <a:r>
              <a:rPr lang="en-US" b="1" dirty="0" smtClean="0"/>
              <a:t>Dependencies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bg-BG" dirty="0" smtClean="0"/>
              <a:t>Съществуват 4 метода за свързване на </a:t>
            </a:r>
            <a:r>
              <a:rPr lang="en-US" dirty="0" smtClean="0"/>
              <a:t>bean </a:t>
            </a:r>
            <a:r>
              <a:rPr lang="bg-BG" dirty="0" smtClean="0"/>
              <a:t>като се използва конфигурация</a:t>
            </a:r>
            <a:r>
              <a:rPr lang="en-US" dirty="0" smtClean="0"/>
              <a:t>: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bg-BG" dirty="0" smtClean="0"/>
              <a:t>Не: Стойност по подразбиране </a:t>
            </a:r>
            <a:r>
              <a:rPr lang="en-US" dirty="0" smtClean="0"/>
              <a:t>– </a:t>
            </a:r>
            <a:r>
              <a:rPr lang="bg-BG" dirty="0" smtClean="0"/>
              <a:t>не се използва свързване и трябва изрично да се посочат зависимостите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bg-BG" dirty="0" smtClean="0"/>
              <a:t>По име</a:t>
            </a:r>
            <a:r>
              <a:rPr lang="en-US" dirty="0" smtClean="0"/>
              <a:t> (</a:t>
            </a:r>
            <a:r>
              <a:rPr lang="en-US" dirty="0" err="1" smtClean="0"/>
              <a:t>byName</a:t>
            </a:r>
            <a:r>
              <a:rPr lang="en-US" dirty="0" smtClean="0"/>
              <a:t>): </a:t>
            </a:r>
            <a:r>
              <a:rPr lang="bg-BG" dirty="0" smtClean="0"/>
              <a:t>свързването се осъществява на базата на името на свойство</a:t>
            </a:r>
            <a:r>
              <a:rPr lang="en-US" dirty="0" smtClean="0"/>
              <a:t>, Spring </a:t>
            </a:r>
            <a:r>
              <a:rPr lang="bg-BG" dirty="0" smtClean="0"/>
              <a:t>ще търси </a:t>
            </a:r>
            <a:r>
              <a:rPr lang="en-US" dirty="0" smtClean="0"/>
              <a:t>bean </a:t>
            </a:r>
            <a:r>
              <a:rPr lang="bg-BG" dirty="0" smtClean="0"/>
              <a:t>със същото име както свойството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bg-BG" dirty="0" smtClean="0"/>
              <a:t>По тип (</a:t>
            </a:r>
            <a:r>
              <a:rPr lang="en-US" dirty="0" err="1" smtClean="0"/>
              <a:t>byType</a:t>
            </a:r>
            <a:r>
              <a:rPr lang="bg-BG" dirty="0" smtClean="0"/>
              <a:t>)</a:t>
            </a:r>
            <a:r>
              <a:rPr lang="en-US" dirty="0" smtClean="0"/>
              <a:t>: </a:t>
            </a:r>
            <a:r>
              <a:rPr lang="bg-BG" dirty="0" smtClean="0"/>
              <a:t>както свързването по име, само че се търси типа на свойството</a:t>
            </a:r>
            <a:r>
              <a:rPr lang="en-US" dirty="0" smtClean="0"/>
              <a:t>. Spring </a:t>
            </a:r>
            <a:r>
              <a:rPr lang="en-US" dirty="0"/>
              <a:t>will </a:t>
            </a:r>
            <a:r>
              <a:rPr lang="bg-BG" dirty="0" smtClean="0"/>
              <a:t>ще търси</a:t>
            </a:r>
            <a:r>
              <a:rPr lang="en-US" dirty="0" smtClean="0"/>
              <a:t> </a:t>
            </a:r>
            <a:r>
              <a:rPr lang="en-US" dirty="0"/>
              <a:t>bean </a:t>
            </a:r>
            <a:r>
              <a:rPr lang="bg-BG" dirty="0" smtClean="0"/>
              <a:t>със същия тип на свойството</a:t>
            </a:r>
            <a:r>
              <a:rPr lang="en-US" dirty="0" smtClean="0"/>
              <a:t>. </a:t>
            </a:r>
            <a:r>
              <a:rPr lang="bg-BG" dirty="0" smtClean="0"/>
              <a:t>Ако има повече от един </a:t>
            </a:r>
            <a:r>
              <a:rPr lang="en-US" dirty="0" smtClean="0"/>
              <a:t>bean </a:t>
            </a:r>
            <a:r>
              <a:rPr lang="bg-BG" dirty="0" smtClean="0"/>
              <a:t>от този типсе хвръля</a:t>
            </a:r>
            <a:r>
              <a:rPr lang="en-US" dirty="0" smtClean="0"/>
              <a:t> </a:t>
            </a:r>
            <a:r>
              <a:rPr lang="bg-BG" dirty="0" smtClean="0"/>
              <a:t>изключение</a:t>
            </a:r>
            <a:r>
              <a:rPr lang="en-US" dirty="0" smtClean="0"/>
              <a:t>.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bg-BG" dirty="0" smtClean="0"/>
              <a:t>Конструктор</a:t>
            </a:r>
            <a:r>
              <a:rPr lang="en-US" dirty="0" smtClean="0"/>
              <a:t>: </a:t>
            </a:r>
            <a:r>
              <a:rPr lang="bg-BG" dirty="0" smtClean="0"/>
              <a:t>свързването се извършва чрез аргументи на конструктор. </a:t>
            </a:r>
            <a:r>
              <a:rPr lang="en-US" dirty="0" smtClean="0"/>
              <a:t>Spring </a:t>
            </a:r>
            <a:r>
              <a:rPr lang="bg-BG" dirty="0" smtClean="0"/>
              <a:t>ще </a:t>
            </a:r>
            <a:r>
              <a:rPr lang="bg-BG" dirty="0" smtClean="0"/>
              <a:t>търси </a:t>
            </a:r>
            <a:r>
              <a:rPr lang="en-US" dirty="0" smtClean="0"/>
              <a:t>bean</a:t>
            </a:r>
            <a:r>
              <a:rPr lang="bg-BG" dirty="0" smtClean="0"/>
              <a:t>-ове от същия тип както са аргументите на конструктора.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19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75903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Autowiring</a:t>
            </a:r>
            <a:r>
              <a:rPr lang="en-US" b="1" dirty="0"/>
              <a:t> </a:t>
            </a:r>
            <a:r>
              <a:rPr lang="en-US" b="1" dirty="0" smtClean="0"/>
              <a:t>Dependencies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autowire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the </a:t>
            </a:r>
            <a:r>
              <a:rPr lang="en-US" sz="105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item1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bean defined above by type into the </a:t>
            </a:r>
            <a:r>
              <a:rPr lang="en-US" sz="105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bean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@Bean(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autowire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Autowire.BY_TYPE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Store {    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private Item 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setItem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(Item item){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this.item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item;    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 inject beans using the @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Autowired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annotation for 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autowiring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by type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Store {     </a:t>
            </a: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Autowired</a:t>
            </a:r>
            <a:endParaRPr lang="en-US" sz="105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private Item </a:t>
            </a:r>
            <a:r>
              <a:rPr lang="en-US" sz="10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05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//If 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there's more than one bean of the same type, we can use the @Qualifier 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annotation 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to reference a bean by name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class Store </a:t>
            </a:r>
            <a:r>
              <a:rPr lang="en-US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Autowired</a:t>
            </a: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@Qualifier("item1")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Item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5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20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8180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Singleton </a:t>
            </a:r>
            <a:r>
              <a:rPr lang="bg-BG" dirty="0" smtClean="0"/>
              <a:t>и </a:t>
            </a:r>
            <a:r>
              <a:rPr lang="en-US" dirty="0" smtClean="0"/>
              <a:t>Prototype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 smtClean="0"/>
              <a:t>По подразбиране </a:t>
            </a:r>
            <a:r>
              <a:rPr lang="en-US" dirty="0" smtClean="0"/>
              <a:t>Spring </a:t>
            </a:r>
            <a:r>
              <a:rPr lang="bg-BG" dirty="0" smtClean="0"/>
              <a:t>използва </a:t>
            </a:r>
            <a:r>
              <a:rPr lang="en-US" dirty="0" smtClean="0"/>
              <a:t>Singleton Design Pattern </a:t>
            </a:r>
            <a:r>
              <a:rPr lang="bg-BG" dirty="0" smtClean="0"/>
              <a:t>при създаване на обектите</a:t>
            </a:r>
            <a:r>
              <a:rPr lang="bg-BG" dirty="0" smtClean="0"/>
              <a:t>:</a:t>
            </a:r>
          </a:p>
          <a:p>
            <a:pPr marL="0" indent="0">
              <a:buNone/>
            </a:pPr>
            <a:endParaRPr lang="bg-BG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Една единствена инстанция се създава при стартиране на приложението.</a:t>
            </a:r>
          </a:p>
          <a:p>
            <a:pPr>
              <a:buFont typeface="Wingdings" panose="05000000000000000000" pitchFamily="2" charset="2"/>
              <a:buChar char="Ø"/>
            </a:pPr>
            <a:endParaRPr lang="bg-BG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Ако изрично се зададе използване на </a:t>
            </a:r>
            <a:r>
              <a:rPr lang="en-US" dirty="0" smtClean="0"/>
              <a:t>Prototype Design Pattern</a:t>
            </a:r>
            <a:r>
              <a:rPr lang="bg-BG" dirty="0" smtClean="0"/>
              <a:t>, инстанция се създава само при поискване, но тя може да </a:t>
            </a:r>
            <a:r>
              <a:rPr lang="bg-BG" dirty="0" smtClean="0"/>
              <a:t>не</a:t>
            </a:r>
            <a:r>
              <a:rPr lang="en-US" dirty="0" smtClean="0"/>
              <a:t> e</a:t>
            </a:r>
            <a:r>
              <a:rPr lang="bg-BG" dirty="0" smtClean="0"/>
              <a:t> </a:t>
            </a:r>
            <a:r>
              <a:rPr lang="bg-BG" dirty="0" smtClean="0"/>
              <a:t>само една.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21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5588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Инициализация на </a:t>
            </a:r>
            <a:r>
              <a:rPr lang="en-US" dirty="0" smtClean="0"/>
              <a:t>beans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По подразбиране</a:t>
            </a:r>
            <a:r>
              <a:rPr lang="en-US" dirty="0" smtClean="0"/>
              <a:t> –</a:t>
            </a:r>
            <a:r>
              <a:rPr lang="bg-BG" dirty="0" smtClean="0"/>
              <a:t> при стартиране на проекта</a:t>
            </a:r>
          </a:p>
          <a:p>
            <a:r>
              <a:rPr lang="en-US" dirty="0" smtClean="0"/>
              <a:t>Lazy </a:t>
            </a:r>
            <a:r>
              <a:rPr lang="bg-BG" dirty="0" smtClean="0"/>
              <a:t>инициализация – при нужда</a:t>
            </a:r>
            <a:r>
              <a:rPr lang="en-US" dirty="0" smtClean="0"/>
              <a:t>:</a:t>
            </a:r>
          </a:p>
          <a:p>
            <a:r>
              <a:rPr lang="en-US" dirty="0" err="1"/>
              <a:t>spring.main.lazy</a:t>
            </a:r>
            <a:r>
              <a:rPr lang="en-US" dirty="0"/>
              <a:t>-initialization=true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477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Annotation</a:t>
            </a:r>
            <a:r>
              <a:rPr lang="en-US" dirty="0" smtClean="0"/>
              <a:t>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@Bean </a:t>
            </a:r>
            <a:r>
              <a:rPr lang="en-US" dirty="0" smtClean="0"/>
              <a:t>– </a:t>
            </a:r>
            <a:r>
              <a:rPr lang="bg-BG" dirty="0" smtClean="0"/>
              <a:t>определя, че методът връща </a:t>
            </a:r>
            <a:r>
              <a:rPr lang="en-US" dirty="0" smtClean="0"/>
              <a:t>bean, </a:t>
            </a:r>
            <a:r>
              <a:rPr lang="bg-BG" dirty="0" smtClean="0"/>
              <a:t>управляван от</a:t>
            </a:r>
            <a:r>
              <a:rPr lang="en-US" dirty="0" smtClean="0"/>
              <a:t> Spring.</a:t>
            </a:r>
            <a:endParaRPr lang="en-US" dirty="0"/>
          </a:p>
          <a:p>
            <a:r>
              <a:rPr lang="en-US" dirty="0"/>
              <a:t>@Service </a:t>
            </a:r>
            <a:r>
              <a:rPr lang="en-US" dirty="0" smtClean="0"/>
              <a:t>– </a:t>
            </a:r>
            <a:r>
              <a:rPr lang="bg-BG" dirty="0" smtClean="0"/>
              <a:t>определя, че класът е услуга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@Repository </a:t>
            </a:r>
            <a:r>
              <a:rPr lang="en-US" dirty="0" smtClean="0"/>
              <a:t>– </a:t>
            </a:r>
            <a:r>
              <a:rPr lang="bg-BG" dirty="0" smtClean="0"/>
              <a:t>определя, че класът е хранилище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@Configuration </a:t>
            </a:r>
            <a:r>
              <a:rPr lang="en-US" dirty="0" smtClean="0"/>
              <a:t>– </a:t>
            </a:r>
            <a:r>
              <a:rPr lang="bg-BG" dirty="0" smtClean="0"/>
              <a:t>определя, че класът дефинира конфигурация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@Controller </a:t>
            </a:r>
            <a:r>
              <a:rPr lang="en-US" dirty="0" smtClean="0"/>
              <a:t>– </a:t>
            </a:r>
            <a:r>
              <a:rPr lang="bg-BG" dirty="0" smtClean="0"/>
              <a:t>определя класа като </a:t>
            </a:r>
            <a:r>
              <a:rPr lang="en-US" dirty="0" smtClean="0"/>
              <a:t>controller,</a:t>
            </a:r>
            <a:r>
              <a:rPr lang="bg-BG" dirty="0" smtClean="0"/>
              <a:t> с възможност за управление на заявки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RequestMapping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bg-BG" dirty="0" smtClean="0"/>
              <a:t>„</a:t>
            </a:r>
            <a:r>
              <a:rPr lang="bg-BG" dirty="0" err="1" smtClean="0"/>
              <a:t>мапва</a:t>
            </a:r>
            <a:r>
              <a:rPr lang="bg-BG" dirty="0" smtClean="0"/>
              <a:t>“ </a:t>
            </a:r>
            <a:r>
              <a:rPr lang="en-US" dirty="0" smtClean="0"/>
              <a:t> </a:t>
            </a:r>
            <a:r>
              <a:rPr lang="en-US" dirty="0"/>
              <a:t>HTTP </a:t>
            </a:r>
            <a:r>
              <a:rPr lang="bg-BG" dirty="0" smtClean="0"/>
              <a:t>заявки с път към метод на контролер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23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8554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Annotations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@</a:t>
            </a:r>
            <a:r>
              <a:rPr lang="en-US" b="1" dirty="0" err="1"/>
              <a:t>Autowired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bg-BG" dirty="0" smtClean="0"/>
              <a:t>маркира конструктор, поле или сет-метод за определяне на </a:t>
            </a:r>
            <a:r>
              <a:rPr lang="en-US" dirty="0" smtClean="0"/>
              <a:t>dependency injection.</a:t>
            </a:r>
            <a:endParaRPr lang="en-US" dirty="0"/>
          </a:p>
          <a:p>
            <a:r>
              <a:rPr lang="en-US" b="1" dirty="0"/>
              <a:t>@</a:t>
            </a:r>
            <a:r>
              <a:rPr lang="en-US" b="1" dirty="0" err="1"/>
              <a:t>SpringBootApplication</a:t>
            </a:r>
            <a:r>
              <a:rPr lang="en-US" dirty="0"/>
              <a:t> - enables Spring Boot </a:t>
            </a:r>
            <a:r>
              <a:rPr lang="en-US" dirty="0" err="1"/>
              <a:t>autoconfiguration</a:t>
            </a:r>
            <a:r>
              <a:rPr lang="en-US" dirty="0"/>
              <a:t> and component scanning</a:t>
            </a:r>
            <a:r>
              <a:rPr lang="en-US" dirty="0" smtClean="0"/>
              <a:t>.</a:t>
            </a:r>
            <a:endParaRPr lang="bg-BG" dirty="0" smtClean="0"/>
          </a:p>
          <a:p>
            <a:r>
              <a:rPr lang="bg-BG" b="1" dirty="0"/>
              <a:t>@</a:t>
            </a:r>
            <a:r>
              <a:rPr lang="en-US" b="1" dirty="0"/>
              <a:t>Primary</a:t>
            </a:r>
            <a:r>
              <a:rPr lang="en-US" dirty="0"/>
              <a:t> - </a:t>
            </a:r>
            <a:r>
              <a:rPr lang="bg-BG" dirty="0"/>
              <a:t>Определя кой </a:t>
            </a:r>
            <a:r>
              <a:rPr lang="en-US" dirty="0"/>
              <a:t>bean </a:t>
            </a:r>
            <a:r>
              <a:rPr lang="bg-BG" dirty="0"/>
              <a:t>трябва да се използва при възникване на двусмислие</a:t>
            </a:r>
            <a:r>
              <a:rPr lang="en-US" dirty="0"/>
              <a:t>. </a:t>
            </a:r>
            <a:r>
              <a:rPr lang="bg-BG" dirty="0"/>
              <a:t>Задава </a:t>
            </a:r>
            <a:r>
              <a:rPr lang="en-US" dirty="0"/>
              <a:t>bean </a:t>
            </a:r>
            <a:r>
              <a:rPr lang="bg-BG" dirty="0"/>
              <a:t>по-подразбиране</a:t>
            </a:r>
            <a:endParaRPr lang="bg-BG" dirty="0"/>
          </a:p>
          <a:p>
            <a:r>
              <a:rPr lang="en-US" b="1" dirty="0" smtClean="0"/>
              <a:t>@</a:t>
            </a:r>
            <a:r>
              <a:rPr lang="en-US" b="1" dirty="0" smtClean="0"/>
              <a:t>Qualifier</a:t>
            </a:r>
            <a:r>
              <a:rPr lang="en-US" dirty="0" smtClean="0"/>
              <a:t> - </a:t>
            </a:r>
            <a:r>
              <a:rPr lang="bg-BG" dirty="0"/>
              <a:t>Определя кой </a:t>
            </a:r>
            <a:r>
              <a:rPr lang="en-US" dirty="0"/>
              <a:t>bean </a:t>
            </a:r>
            <a:r>
              <a:rPr lang="bg-BG" dirty="0"/>
              <a:t>трябва да се използва при възникване на </a:t>
            </a:r>
            <a:r>
              <a:rPr lang="bg-BG" dirty="0" smtClean="0"/>
              <a:t>двусмислие. Има предимство пред </a:t>
            </a:r>
            <a:r>
              <a:rPr lang="en-US" dirty="0" smtClean="0"/>
              <a:t>@Primary</a:t>
            </a:r>
            <a:r>
              <a:rPr lang="bg-BG" dirty="0" smtClean="0"/>
              <a:t> </a:t>
            </a:r>
            <a:endParaRPr lang="bg-BG" dirty="0"/>
          </a:p>
          <a:p>
            <a:r>
              <a:rPr lang="en-US" b="1" dirty="0" smtClean="0"/>
              <a:t>@Component</a:t>
            </a:r>
            <a:r>
              <a:rPr lang="en-US" dirty="0" smtClean="0"/>
              <a:t> - </a:t>
            </a:r>
            <a:r>
              <a:rPr lang="bg-BG" dirty="0"/>
              <a:t>определя, че </a:t>
            </a:r>
            <a:r>
              <a:rPr lang="bg-BG" dirty="0" smtClean="0"/>
              <a:t>класът е </a:t>
            </a:r>
            <a:r>
              <a:rPr lang="en-US" dirty="0" smtClean="0"/>
              <a:t>bean</a:t>
            </a:r>
            <a:r>
              <a:rPr lang="en-US" dirty="0"/>
              <a:t>, </a:t>
            </a:r>
            <a:r>
              <a:rPr lang="bg-BG" dirty="0"/>
              <a:t>управляван от</a:t>
            </a:r>
            <a:r>
              <a:rPr lang="en-US" dirty="0"/>
              <a:t> </a:t>
            </a:r>
            <a:r>
              <a:rPr lang="en-US" dirty="0" smtClean="0"/>
              <a:t>Spring</a:t>
            </a:r>
            <a:endParaRPr lang="en-US" dirty="0" smtClean="0"/>
          </a:p>
          <a:p>
            <a:r>
              <a:rPr lang="en-US" b="1" dirty="0" smtClean="0"/>
              <a:t>@Scope</a:t>
            </a:r>
            <a:r>
              <a:rPr lang="bg-BG" dirty="0"/>
              <a:t> - Определя жизнения цикъл и видимост на </a:t>
            </a:r>
            <a:r>
              <a:rPr lang="en-US" dirty="0" smtClean="0"/>
              <a:t>bean-a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24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56447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 smtClean="0"/>
              <a:t>@</a:t>
            </a:r>
            <a:r>
              <a:rPr lang="en-US" sz="3200" b="1" dirty="0" smtClean="0"/>
              <a:t>Bean vs @Component</a:t>
            </a:r>
            <a:endParaRPr lang="bg-BG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Анотацията </a:t>
            </a:r>
            <a:r>
              <a:rPr lang="en-US" dirty="0" smtClean="0"/>
              <a:t>@Component </a:t>
            </a:r>
            <a:r>
              <a:rPr lang="bg-BG" dirty="0" smtClean="0"/>
              <a:t>показва, че класът е дефиниция на </a:t>
            </a:r>
            <a:r>
              <a:rPr lang="en-US" dirty="0" smtClean="0"/>
              <a:t>bean. </a:t>
            </a:r>
            <a:r>
              <a:rPr lang="bg-BG" dirty="0" smtClean="0"/>
              <a:t>Може да се добави в множество конфигурационни файлове</a:t>
            </a:r>
            <a:r>
              <a:rPr lang="en-US" dirty="0" smtClean="0"/>
              <a:t>.</a:t>
            </a:r>
            <a:endParaRPr lang="en-US" dirty="0"/>
          </a:p>
          <a:p>
            <a:endParaRPr lang="bg-BG" dirty="0" smtClean="0"/>
          </a:p>
          <a:p>
            <a:r>
              <a:rPr lang="bg-BG" dirty="0" smtClean="0"/>
              <a:t>Анотацията</a:t>
            </a:r>
            <a:r>
              <a:rPr lang="en-US" dirty="0" smtClean="0"/>
              <a:t> </a:t>
            </a:r>
            <a:r>
              <a:rPr lang="en-US" dirty="0"/>
              <a:t>@Bean </a:t>
            </a:r>
            <a:r>
              <a:rPr lang="bg-BG" dirty="0" smtClean="0"/>
              <a:t>се използва върху метод, за да се дефинира</a:t>
            </a:r>
            <a:r>
              <a:rPr lang="en-US" dirty="0" smtClean="0"/>
              <a:t> </a:t>
            </a:r>
            <a:r>
              <a:rPr lang="en-US" dirty="0"/>
              <a:t>bean. </a:t>
            </a:r>
            <a:r>
              <a:rPr lang="bg-BG" dirty="0" smtClean="0"/>
              <a:t>Ако не се посочи име, името на моетода ще бъде и името на </a:t>
            </a:r>
            <a:r>
              <a:rPr lang="en-US" dirty="0" smtClean="0"/>
              <a:t>bean</a:t>
            </a:r>
            <a:r>
              <a:rPr lang="bg-BG" dirty="0" smtClean="0"/>
              <a:t>-а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r>
              <a:rPr lang="bg-BG" dirty="0" smtClean="0"/>
              <a:t>Ако </a:t>
            </a:r>
            <a:r>
              <a:rPr lang="en-US" dirty="0" smtClean="0"/>
              <a:t>bean</a:t>
            </a:r>
            <a:r>
              <a:rPr lang="bg-BG" dirty="0" smtClean="0"/>
              <a:t>-а е с обхват по подразбиране </a:t>
            </a:r>
            <a:r>
              <a:rPr lang="en-US" dirty="0" smtClean="0"/>
              <a:t>singleton, </a:t>
            </a:r>
            <a:r>
              <a:rPr lang="en-US" dirty="0"/>
              <a:t>Spring </a:t>
            </a:r>
            <a:r>
              <a:rPr lang="bg-BG" dirty="0" smtClean="0"/>
              <a:t>първо проверява дали вече има инстанция и създава нова, само ако няма такава. Ако се използва обхват</a:t>
            </a:r>
            <a:r>
              <a:rPr lang="en-US" dirty="0" smtClean="0"/>
              <a:t> prototype, </a:t>
            </a:r>
            <a:r>
              <a:rPr lang="bg-BG" dirty="0" smtClean="0"/>
              <a:t>контейнерът връща нова инстанция на </a:t>
            </a:r>
            <a:r>
              <a:rPr lang="en-US" dirty="0" smtClean="0"/>
              <a:t>bean </a:t>
            </a:r>
            <a:r>
              <a:rPr lang="bg-BG" dirty="0" smtClean="0"/>
              <a:t>за всяко извикване на метода</a:t>
            </a:r>
            <a:r>
              <a:rPr lang="en-US" dirty="0" smtClean="0"/>
              <a:t>.</a:t>
            </a: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25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43082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@Scope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 smtClean="0"/>
              <a:t>Определя жизнения цикъл и видимост на </a:t>
            </a:r>
            <a:r>
              <a:rPr lang="en-US" dirty="0" smtClean="0"/>
              <a:t>bean-a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singleton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prototype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request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application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websocket</a:t>
            </a:r>
            <a:endParaRPr lang="en-US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451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@Primary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628606"/>
          </a:xfrm>
        </p:spPr>
        <p:txBody>
          <a:bodyPr>
            <a:noAutofit/>
          </a:bodyPr>
          <a:lstStyle/>
          <a:p>
            <a:r>
              <a:rPr lang="bg-BG" sz="1200" dirty="0"/>
              <a:t>Определя кой </a:t>
            </a:r>
            <a:r>
              <a:rPr lang="en-US" sz="1200" dirty="0"/>
              <a:t>bean </a:t>
            </a:r>
            <a:r>
              <a:rPr lang="bg-BG" sz="1200" dirty="0"/>
              <a:t>трябва да се използва при възникване на двусмислие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@Component(Employee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Employee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private String name;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@Component ("Principal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@Primary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public class Principal extends Employee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experience;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School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private Employee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School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(Employee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this.employee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employee;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bg-BG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293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@Qualifier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67980"/>
          </a:xfrm>
        </p:spPr>
        <p:txBody>
          <a:bodyPr>
            <a:noAutofit/>
          </a:bodyPr>
          <a:lstStyle/>
          <a:p>
            <a:r>
              <a:rPr lang="bg-BG" sz="1400" dirty="0" smtClean="0"/>
              <a:t>Определя кой </a:t>
            </a:r>
            <a:r>
              <a:rPr lang="en-US" sz="1400" dirty="0" smtClean="0"/>
              <a:t>bean </a:t>
            </a:r>
            <a:r>
              <a:rPr lang="bg-BG" sz="1400" dirty="0" smtClean="0"/>
              <a:t>трябва да се използва при възникване на двусмислие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@Component(Employee)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Employee {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private String name;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Component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Principal extends Employee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experience;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class School  {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private Employee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School (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Qualifier("Principal")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employee) {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this.employee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employee;</a:t>
            </a:r>
          </a:p>
          <a:p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/>
              <a:t>}</a:t>
            </a:r>
            <a:endParaRPr lang="en-US" sz="1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303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C3758-13D1-431B-AC81-8115E2D7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69C64A-705C-4021-BEFE-4A2E87EB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434558"/>
          </a:xfrm>
        </p:spPr>
        <p:txBody>
          <a:bodyPr/>
          <a:lstStyle/>
          <a:p>
            <a:r>
              <a:rPr lang="en-US" cap="none" dirty="0"/>
              <a:t>hkostadinova@gmail.com</a:t>
            </a:r>
            <a:endParaRPr lang="bg-BG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EAD8-EA14-40A7-9689-D356F038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7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118638</TotalTime>
  <Words>1548</Words>
  <Application>Microsoft Office PowerPoint</Application>
  <PresentationFormat>Widescreen</PresentationFormat>
  <Paragraphs>271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Wingdings</vt:lpstr>
      <vt:lpstr>Retrospect</vt:lpstr>
      <vt:lpstr>CSCB869 Java Web Services</vt:lpstr>
      <vt:lpstr>Съдържание</vt:lpstr>
      <vt:lpstr>Servlets </vt:lpstr>
      <vt:lpstr>Inversion of Control (IoC)</vt:lpstr>
      <vt:lpstr>Пример</vt:lpstr>
      <vt:lpstr>Зависимости между обекти - Традиционен подход</vt:lpstr>
      <vt:lpstr>IoC контейнер в Spring Framework</vt:lpstr>
      <vt:lpstr>IoC в действие</vt:lpstr>
      <vt:lpstr>Spring Bean</vt:lpstr>
      <vt:lpstr>Пример - Bean Configuration</vt:lpstr>
      <vt:lpstr>IoC Container и Dependency Injection (DI)</vt:lpstr>
      <vt:lpstr>Dependency Injection</vt:lpstr>
      <vt:lpstr>Dependency Injection</vt:lpstr>
      <vt:lpstr>Dependency Injection чрез конструктор</vt:lpstr>
      <vt:lpstr>DI чрез конструктор и setter метод</vt:lpstr>
      <vt:lpstr>Dependency Injection чрез setter-и</vt:lpstr>
      <vt:lpstr>Dependency Injection чрез полета (Field-Based) </vt:lpstr>
      <vt:lpstr>Dependency Injection чрез полета</vt:lpstr>
      <vt:lpstr>Autowiring Dependencies</vt:lpstr>
      <vt:lpstr>Autowiring Dependencies</vt:lpstr>
      <vt:lpstr>Singleton и Prototype</vt:lpstr>
      <vt:lpstr>Инициализация на beans</vt:lpstr>
      <vt:lpstr>Annotations</vt:lpstr>
      <vt:lpstr>Annotations</vt:lpstr>
      <vt:lpstr>@Bean vs @Component</vt:lpstr>
      <vt:lpstr>@Scope</vt:lpstr>
      <vt:lpstr>@Primary</vt:lpstr>
      <vt:lpstr>@Qualifier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CSCB415 Лабораторни занятия по Java</dc:title>
  <dc:creator>Kostadinova</dc:creator>
  <cp:lastModifiedBy>Kostadinova</cp:lastModifiedBy>
  <cp:revision>1547</cp:revision>
  <dcterms:created xsi:type="dcterms:W3CDTF">2018-07-12T12:35:35Z</dcterms:created>
  <dcterms:modified xsi:type="dcterms:W3CDTF">2020-12-11T17:33:21Z</dcterms:modified>
</cp:coreProperties>
</file>