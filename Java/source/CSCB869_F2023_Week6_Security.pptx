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26" r:id="rId3"/>
    <p:sldId id="330" r:id="rId4"/>
    <p:sldId id="331" r:id="rId5"/>
    <p:sldId id="332" r:id="rId6"/>
    <p:sldId id="336" r:id="rId7"/>
    <p:sldId id="333" r:id="rId8"/>
    <p:sldId id="335" r:id="rId9"/>
    <p:sldId id="334" r:id="rId10"/>
    <p:sldId id="30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7.11.2023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Съдържание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Authentication </a:t>
            </a:r>
            <a:r>
              <a:rPr lang="bg-BG" sz="2400" dirty="0" smtClean="0"/>
              <a:t>и </a:t>
            </a:r>
            <a:r>
              <a:rPr lang="en-US" sz="2400" dirty="0" smtClean="0"/>
              <a:t>Authorization</a:t>
            </a:r>
          </a:p>
          <a:p>
            <a:r>
              <a:rPr lang="en-US" sz="2400" dirty="0" smtClean="0"/>
              <a:t>Spring Security</a:t>
            </a:r>
            <a:endParaRPr lang="bg-BG" sz="2400" dirty="0" smtClean="0"/>
          </a:p>
          <a:p>
            <a:pPr marL="0" indent="0">
              <a:buNone/>
            </a:pPr>
            <a:endParaRPr lang="bg-BG" sz="2400" dirty="0" smtClean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Аутентикация </a:t>
            </a:r>
            <a:r>
              <a:rPr lang="en-US" dirty="0" smtClean="0"/>
              <a:t>(authentication)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231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Spring Security Default Credentials:</a:t>
            </a:r>
          </a:p>
          <a:p>
            <a:pPr marL="0" indent="0">
              <a:buNone/>
            </a:pPr>
            <a:r>
              <a:rPr lang="en-US" dirty="0" smtClean="0"/>
              <a:t>Username: user</a:t>
            </a:r>
          </a:p>
          <a:p>
            <a:pPr marL="0" indent="0">
              <a:buNone/>
            </a:pPr>
            <a:r>
              <a:rPr lang="en-US" dirty="0" smtClean="0"/>
              <a:t>Password: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65" y="3185982"/>
            <a:ext cx="11843658" cy="27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Конфигуриране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49654" y="1856333"/>
            <a:ext cx="6861174" cy="49552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@AllArgsConstructor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Configuration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@EnableWebSecurity</a:t>
            </a:r>
            <a:r>
              <a:rPr kumimoji="0" lang="bg-BG" altLang="bg-BG" sz="24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bg-BG" altLang="bg-BG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SecurityConfig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final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UserService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userService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@Bean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PasswordEncoder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passwordEncoder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new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BCryptPasswordEncoder();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US" altLang="bg-BG" sz="2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bg-BG" sz="2400" dirty="0" smtClean="0">
                <a:solidFill>
                  <a:srgbClr val="080808"/>
                </a:solidFill>
                <a:latin typeface="JetBrains Mono"/>
              </a:rPr>
              <a:t>…</a:t>
            </a:r>
            <a:endParaRPr kumimoji="0" lang="bg-BG" altLang="bg-BG" sz="2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bg-BG" sz="2400" dirty="0" smtClean="0">
                <a:solidFill>
                  <a:srgbClr val="080808"/>
                </a:solidFill>
                <a:latin typeface="JetBrains Mono"/>
              </a:rPr>
              <a:t>}</a:t>
            </a:r>
            <a:endParaRPr kumimoji="0" lang="bg-BG" altLang="bg-BG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Конфигуриране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78279" y="2403642"/>
            <a:ext cx="8993688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@Bean</a:t>
            </a:r>
            <a:br>
              <a:rPr lang="en-US" sz="2400" dirty="0"/>
            </a:br>
            <a:r>
              <a:rPr lang="en-US" sz="2400" dirty="0"/>
              <a:t>public </a:t>
            </a:r>
            <a:r>
              <a:rPr lang="en-US" sz="2400" dirty="0" err="1"/>
              <a:t>DaoAuthenticationProvider</a:t>
            </a:r>
            <a:r>
              <a:rPr lang="en-US" sz="2400" dirty="0"/>
              <a:t> </a:t>
            </a:r>
            <a:r>
              <a:rPr lang="en-US" sz="2400" dirty="0" err="1"/>
              <a:t>authProvider</a:t>
            </a:r>
            <a:r>
              <a:rPr lang="en-US" sz="2400" dirty="0"/>
              <a:t>() {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DaoAuthenticationProvider</a:t>
            </a:r>
            <a:r>
              <a:rPr lang="en-US" sz="2400" dirty="0"/>
              <a:t> </a:t>
            </a:r>
            <a:r>
              <a:rPr lang="en-US" sz="2400" dirty="0" err="1"/>
              <a:t>authProvider</a:t>
            </a:r>
            <a:r>
              <a:rPr lang="en-US" sz="2400" dirty="0"/>
              <a:t> = new </a:t>
            </a:r>
            <a:r>
              <a:rPr lang="en-US" sz="2400" dirty="0" err="1"/>
              <a:t>DaoAuthenticationProvider</a:t>
            </a:r>
            <a:r>
              <a:rPr lang="en-US" sz="2400" dirty="0"/>
              <a:t>();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authProvider.setUserDetailsService</a:t>
            </a:r>
            <a:r>
              <a:rPr lang="en-US" sz="2400" dirty="0"/>
              <a:t>(</a:t>
            </a:r>
            <a:r>
              <a:rPr lang="en-US" sz="2400" dirty="0" err="1"/>
              <a:t>userService</a:t>
            </a:r>
            <a:r>
              <a:rPr lang="en-US" sz="2400" dirty="0"/>
              <a:t>);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authProvider.setPasswordEncoder</a:t>
            </a:r>
            <a:r>
              <a:rPr lang="en-US" sz="2400" dirty="0"/>
              <a:t>(</a:t>
            </a:r>
            <a:r>
              <a:rPr lang="en-US" sz="2400" dirty="0" err="1"/>
              <a:t>passwordEncoder</a:t>
            </a:r>
            <a:r>
              <a:rPr lang="en-US" sz="2400" dirty="0"/>
              <a:t>());</a:t>
            </a:r>
            <a:br>
              <a:rPr lang="en-US" sz="2400" dirty="0"/>
            </a:br>
            <a:r>
              <a:rPr lang="en-US" sz="2400" dirty="0"/>
              <a:t>    return </a:t>
            </a:r>
            <a:r>
              <a:rPr lang="en-US" sz="2400" dirty="0" err="1"/>
              <a:t>authProvider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700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Конфигуриране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444788" y="1988866"/>
            <a:ext cx="9594614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SecurityFilterChain</a:t>
            </a:r>
            <a:r>
              <a:rPr lang="en-US" dirty="0"/>
              <a:t> </a:t>
            </a:r>
            <a:r>
              <a:rPr lang="en-US" dirty="0" err="1"/>
              <a:t>filterChain</a:t>
            </a:r>
            <a:r>
              <a:rPr lang="en-US" dirty="0"/>
              <a:t>(</a:t>
            </a:r>
            <a:r>
              <a:rPr lang="en-US" dirty="0" err="1"/>
              <a:t>HttpSecurity</a:t>
            </a:r>
            <a:r>
              <a:rPr lang="en-US" dirty="0"/>
              <a:t> http) throws Exception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http.authorizeHttpRequests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       (</a:t>
            </a:r>
            <a:r>
              <a:rPr lang="en-US" dirty="0" err="1"/>
              <a:t>authz</a:t>
            </a:r>
            <a:r>
              <a:rPr lang="en-US" dirty="0"/>
              <a:t> -&gt; </a:t>
            </a:r>
            <a:r>
              <a:rPr lang="en-US" dirty="0" err="1"/>
              <a:t>authz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               .</a:t>
            </a:r>
            <a:r>
              <a:rPr lang="en-US" dirty="0" err="1"/>
              <a:t>requestMatchers</a:t>
            </a:r>
            <a:r>
              <a:rPr lang="en-US" dirty="0"/>
              <a:t>(</a:t>
            </a:r>
            <a:r>
              <a:rPr lang="en-US" dirty="0" err="1"/>
              <a:t>HttpMethod.</a:t>
            </a:r>
            <a:r>
              <a:rPr lang="en-US" i="1" dirty="0" err="1"/>
              <a:t>GET</a:t>
            </a:r>
            <a:r>
              <a:rPr lang="en-US" dirty="0"/>
              <a:t>, "/</a:t>
            </a:r>
            <a:r>
              <a:rPr lang="en-US" dirty="0" err="1"/>
              <a:t>api</a:t>
            </a:r>
            <a:r>
              <a:rPr lang="en-US" dirty="0"/>
              <a:t>/v1/schools/**").</a:t>
            </a:r>
            <a:r>
              <a:rPr lang="en-US" dirty="0" err="1"/>
              <a:t>hasAuthority</a:t>
            </a:r>
            <a:r>
              <a:rPr lang="en-US" dirty="0"/>
              <a:t>("TEACHER")</a:t>
            </a:r>
            <a:br>
              <a:rPr lang="en-US" dirty="0"/>
            </a:br>
            <a:r>
              <a:rPr lang="en-US" dirty="0"/>
              <a:t>                            .</a:t>
            </a:r>
            <a:r>
              <a:rPr lang="en-US" dirty="0" err="1"/>
              <a:t>requestMatchers</a:t>
            </a:r>
            <a:r>
              <a:rPr lang="en-US" dirty="0"/>
              <a:t>("/</a:t>
            </a:r>
            <a:r>
              <a:rPr lang="en-US" dirty="0" err="1"/>
              <a:t>api</a:t>
            </a:r>
            <a:r>
              <a:rPr lang="en-US" dirty="0"/>
              <a:t>/v1/schools/**").</a:t>
            </a:r>
            <a:r>
              <a:rPr lang="en-US" dirty="0" err="1"/>
              <a:t>hasAuthority</a:t>
            </a:r>
            <a:r>
              <a:rPr lang="en-US" dirty="0"/>
              <a:t>("ADMIN")</a:t>
            </a:r>
            <a:br>
              <a:rPr lang="en-US" dirty="0"/>
            </a:br>
            <a:r>
              <a:rPr lang="en-US" dirty="0"/>
              <a:t>                            .</a:t>
            </a:r>
            <a:r>
              <a:rPr lang="en-US" dirty="0" err="1"/>
              <a:t>anyRequest</a:t>
            </a:r>
            <a:r>
              <a:rPr lang="en-US" dirty="0"/>
              <a:t>().authenticated()</a:t>
            </a:r>
            <a:br>
              <a:rPr lang="en-US" dirty="0"/>
            </a:br>
            <a:r>
              <a:rPr lang="en-US" dirty="0"/>
              <a:t>                    )</a:t>
            </a:r>
            <a:br>
              <a:rPr lang="en-US" dirty="0"/>
            </a:br>
            <a:r>
              <a:rPr lang="en-US" dirty="0"/>
              <a:t>            .</a:t>
            </a:r>
            <a:r>
              <a:rPr lang="en-US" dirty="0" err="1"/>
              <a:t>httpBasic</a:t>
            </a:r>
            <a:r>
              <a:rPr lang="en-US" dirty="0"/>
              <a:t>(</a:t>
            </a:r>
            <a:r>
              <a:rPr lang="en-US" dirty="0" err="1"/>
              <a:t>Customizer.</a:t>
            </a:r>
            <a:r>
              <a:rPr lang="en-US" i="1" dirty="0" err="1"/>
              <a:t>withDefaults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            .</a:t>
            </a:r>
            <a:r>
              <a:rPr lang="en-US" dirty="0" err="1"/>
              <a:t>formLogin</a:t>
            </a:r>
            <a:r>
              <a:rPr lang="en-US" dirty="0"/>
              <a:t>(</a:t>
            </a:r>
            <a:r>
              <a:rPr lang="en-US" dirty="0" err="1"/>
              <a:t>Customizer.</a:t>
            </a:r>
            <a:r>
              <a:rPr lang="en-US" i="1" dirty="0" err="1"/>
              <a:t>withDefaults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    ;</a:t>
            </a:r>
            <a:br>
              <a:rPr lang="en-US" dirty="0"/>
            </a:br>
            <a:r>
              <a:rPr lang="en-US" dirty="0"/>
              <a:t>    return </a:t>
            </a:r>
            <a:r>
              <a:rPr lang="en-US" dirty="0" err="1"/>
              <a:t>http.build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752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Principle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Principle</a:t>
            </a:r>
            <a:r>
              <a:rPr lang="en-US" dirty="0" smtClean="0"/>
              <a:t> – </a:t>
            </a:r>
            <a:r>
              <a:rPr lang="bg-BG" dirty="0" smtClean="0"/>
              <a:t>логнатият в момента потребител</a:t>
            </a:r>
            <a:endParaRPr lang="en-US" dirty="0" smtClean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Authentication authentication2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SecurityContextHolder.getContext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getAuthentication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 principal = (User)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authentication.getPrincipal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6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UserDetails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25486" y="2335112"/>
            <a:ext cx="6078908" cy="28007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@Entity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@Table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(name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"user"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BaseEntity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implements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UserDetails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@Column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(name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"username"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nullable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unique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username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@Column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(name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"password"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nullable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password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endParaRPr kumimoji="0" lang="en-US" altLang="bg-BG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bg-BG" sz="1600" dirty="0" smtClean="0">
                <a:solidFill>
                  <a:srgbClr val="080808"/>
                </a:solidFill>
                <a:latin typeface="JetBrains Mono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bg-BG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61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UserDetailsService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600633" y="1876164"/>
            <a:ext cx="9360255" cy="4770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interface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UserService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UserDetailsService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US" altLang="bg-BG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bg-BG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bg-BG" altLang="bg-BG" sz="1600" dirty="0">
                <a:solidFill>
                  <a:srgbClr val="9E880D"/>
                </a:solidFill>
                <a:latin typeface="JetBrains Mono"/>
              </a:rPr>
              <a:t>@Service</a:t>
            </a:r>
            <a:br>
              <a:rPr lang="bg-BG" altLang="bg-BG" sz="1600" dirty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9E880D"/>
                </a:solidFill>
                <a:latin typeface="JetBrains Mono"/>
              </a:rPr>
              <a:t>@AllArgsConstructor</a:t>
            </a:r>
            <a:br>
              <a:rPr lang="bg-BG" altLang="bg-BG" sz="1600" dirty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public class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UserServiceImpl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implements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UserService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private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UserRepository </a:t>
            </a:r>
            <a:r>
              <a:rPr lang="bg-BG" altLang="bg-BG" sz="1600" dirty="0">
                <a:solidFill>
                  <a:srgbClr val="871094"/>
                </a:solidFill>
                <a:latin typeface="JetBrains Mono"/>
              </a:rPr>
              <a:t>userRepository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600" dirty="0">
                <a:solidFill>
                  <a:srgbClr val="9E880D"/>
                </a:solidFill>
                <a:latin typeface="JetBrains Mono"/>
              </a:rPr>
              <a:t>@Override</a:t>
            </a:r>
            <a:br>
              <a:rPr lang="bg-BG" altLang="bg-BG" sz="1600" dirty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9E880D"/>
                </a:solidFill>
                <a:latin typeface="JetBrains Mono"/>
              </a:rPr>
              <a:t>   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UserDetails </a:t>
            </a:r>
            <a:r>
              <a:rPr lang="bg-BG" altLang="bg-BG" sz="1600" dirty="0">
                <a:solidFill>
                  <a:srgbClr val="00627A"/>
                </a:solidFill>
                <a:latin typeface="JetBrains Mono"/>
              </a:rPr>
              <a:t>loadUserByUsername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username)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throws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UsernameNotFoundException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 user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bg-BG" altLang="bg-BG" sz="1600" dirty="0">
                <a:solidFill>
                  <a:srgbClr val="871094"/>
                </a:solidFill>
                <a:latin typeface="JetBrains Mono"/>
              </a:rPr>
              <a:t>userRepository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.findByUsername(username);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null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throw new 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UsernameNotFoundException(username);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6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bg-BG" altLang="bg-BG" sz="1600" dirty="0">
                <a:solidFill>
                  <a:srgbClr val="000000"/>
                </a:solidFill>
                <a:latin typeface="JetBrains Mono"/>
              </a:rPr>
              <a:t>user</a:t>
            </a: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bg-BG" altLang="bg-BG" sz="1600" dirty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600" dirty="0" smtClean="0">
                <a:solidFill>
                  <a:srgbClr val="080808"/>
                </a:solidFill>
                <a:latin typeface="JetBrains Mono"/>
              </a:rPr>
              <a:t>}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818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110721</TotalTime>
  <Words>88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JetBrains Mono</vt:lpstr>
      <vt:lpstr>Retrospect</vt:lpstr>
      <vt:lpstr>CSCB869 Java Web Services</vt:lpstr>
      <vt:lpstr>Съдържание</vt:lpstr>
      <vt:lpstr>Аутентикация (authentication)</vt:lpstr>
      <vt:lpstr>Конфигуриране</vt:lpstr>
      <vt:lpstr>Конфигуриране</vt:lpstr>
      <vt:lpstr>Конфигуриране</vt:lpstr>
      <vt:lpstr>User Principle</vt:lpstr>
      <vt:lpstr>UserDetails</vt:lpstr>
      <vt:lpstr>UserDetailsService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1451</cp:revision>
  <dcterms:created xsi:type="dcterms:W3CDTF">2018-07-12T12:35:35Z</dcterms:created>
  <dcterms:modified xsi:type="dcterms:W3CDTF">2023-11-07T18:36:34Z</dcterms:modified>
</cp:coreProperties>
</file>