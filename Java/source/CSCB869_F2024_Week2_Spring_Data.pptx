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26" r:id="rId3"/>
    <p:sldId id="324" r:id="rId4"/>
    <p:sldId id="325" r:id="rId5"/>
    <p:sldId id="309" r:id="rId6"/>
    <p:sldId id="315" r:id="rId7"/>
    <p:sldId id="321" r:id="rId8"/>
    <p:sldId id="322" r:id="rId9"/>
    <p:sldId id="323" r:id="rId10"/>
    <p:sldId id="30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9.10.2020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data/jpa/docs/current/reference/html/#repositories.query-methods.query-crea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Data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bg-BG" sz="2400" dirty="0" smtClean="0"/>
              <a:t>Създаване на </a:t>
            </a:r>
            <a:r>
              <a:rPr lang="en-US" sz="2400" dirty="0" smtClean="0"/>
              <a:t>Spring Boot </a:t>
            </a:r>
            <a:r>
              <a:rPr lang="bg-BG" sz="2400" dirty="0" smtClean="0"/>
              <a:t>проект с използване на реална БД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/>
              <a:t>Стратегии за създаване на заявки </a:t>
            </a:r>
            <a:endParaRPr lang="bg-BG" sz="2400" dirty="0" smtClean="0"/>
          </a:p>
          <a:p>
            <a:pPr>
              <a:buFont typeface="Wingdings" panose="05000000000000000000" pitchFamily="2" charset="2"/>
              <a:buChar char="§"/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Използване на реална база от </a:t>
            </a:r>
            <a:r>
              <a:rPr lang="bg-BG" smtClean="0"/>
              <a:t>данни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application.properties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spring.datasource.url=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localhost/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databasename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spring.datasource.username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=username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spring.datasource.password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=password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spring.datasource.driver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-class-name=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com.mysql.cj.jdbc.Driver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69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98034" cy="1450757"/>
          </a:xfrm>
        </p:spPr>
        <p:txBody>
          <a:bodyPr/>
          <a:lstStyle/>
          <a:p>
            <a:r>
              <a:rPr lang="en-US" dirty="0" err="1" smtClean="0"/>
              <a:t>spring.jpa.hibernate.ddl</a:t>
            </a:r>
            <a:r>
              <a:rPr lang="en-US" dirty="0" smtClean="0"/>
              <a:t>-auto - properties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spring.jpa.hibernate.ddl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-auto=update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spring.jpa.hibernate.ddl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-auto=create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spring.jpa.hibernate.ddl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-auto=create-drop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spring.jpa.hibernate.ddl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-auto=validate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spring.jpa.hibernate.ddl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-auto=none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Стратегии за създаване на заявки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3553"/>
          </a:xfrm>
        </p:spPr>
        <p:txBody>
          <a:bodyPr>
            <a:normAutofit/>
          </a:bodyPr>
          <a:lstStyle/>
          <a:p>
            <a:r>
              <a:rPr lang="bg-BG" dirty="0" smtClean="0"/>
              <a:t>Създаване на методи</a:t>
            </a:r>
            <a:r>
              <a:rPr lang="en-US" dirty="0" smtClean="0"/>
              <a:t>:</a:t>
            </a:r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://docs.spring.io/spring-data/jpa/docs/current/reference/html/#</a:t>
            </a:r>
            <a:r>
              <a:rPr lang="en-US" dirty="0" smtClean="0">
                <a:hlinkClick r:id="rId2"/>
              </a:rPr>
              <a:t>repositories.query-methods.query-creation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Стратегии за създаване на заявки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3553"/>
          </a:xfrm>
        </p:spPr>
        <p:txBody>
          <a:bodyPr>
            <a:normAutofit/>
          </a:bodyPr>
          <a:lstStyle/>
          <a:p>
            <a:r>
              <a:rPr lang="bg-BG" dirty="0" smtClean="0"/>
              <a:t>Шаблон:</a:t>
            </a:r>
            <a:endParaRPr lang="en-US" dirty="0" smtClean="0"/>
          </a:p>
          <a:p>
            <a:r>
              <a:rPr lang="en-US" dirty="0" smtClean="0"/>
              <a:t>find…By, read…By, query…By, count…By, get…By</a:t>
            </a:r>
          </a:p>
          <a:p>
            <a:r>
              <a:rPr lang="bg-BG" dirty="0" smtClean="0"/>
              <a:t>Флагове</a:t>
            </a:r>
            <a:r>
              <a:rPr lang="en-US" dirty="0" smtClean="0"/>
              <a:t>: Distinct</a:t>
            </a:r>
          </a:p>
          <a:p>
            <a:r>
              <a:rPr lang="bg-BG" dirty="0" smtClean="0"/>
              <a:t>Възможност за свързване с</a:t>
            </a:r>
            <a:r>
              <a:rPr lang="en-US" dirty="0" smtClean="0"/>
              <a:t>: And </a:t>
            </a:r>
            <a:r>
              <a:rPr lang="bg-BG" dirty="0" smtClean="0"/>
              <a:t>и </a:t>
            </a:r>
            <a:r>
              <a:rPr lang="en-US" dirty="0" smtClean="0"/>
              <a:t>Or, </a:t>
            </a:r>
            <a:r>
              <a:rPr lang="en-US" dirty="0" err="1"/>
              <a:t>G</a:t>
            </a:r>
            <a:r>
              <a:rPr lang="en-US" dirty="0" err="1" smtClean="0"/>
              <a:t>reaterThan</a:t>
            </a:r>
            <a:r>
              <a:rPr lang="en-US" dirty="0" smtClean="0"/>
              <a:t>, </a:t>
            </a:r>
            <a:r>
              <a:rPr lang="en-US" dirty="0" err="1" smtClean="0"/>
              <a:t>LessThan</a:t>
            </a:r>
            <a:endParaRPr lang="en-US" dirty="0" smtClean="0"/>
          </a:p>
          <a:p>
            <a:r>
              <a:rPr lang="en-US" dirty="0"/>
              <a:t>List&lt;Person&gt; </a:t>
            </a:r>
            <a:r>
              <a:rPr lang="en-US" dirty="0" err="1"/>
              <a:t>findDistinctPeopleByLastnameOrFirstname</a:t>
            </a:r>
            <a:r>
              <a:rPr lang="en-US" dirty="0"/>
              <a:t>(String </a:t>
            </a:r>
            <a:r>
              <a:rPr lang="en-US" dirty="0" err="1"/>
              <a:t>lastname</a:t>
            </a:r>
            <a:r>
              <a:rPr lang="en-US" dirty="0"/>
              <a:t>, String </a:t>
            </a:r>
            <a:r>
              <a:rPr lang="en-US" dirty="0" err="1"/>
              <a:t>firstname</a:t>
            </a:r>
            <a:r>
              <a:rPr lang="en-US" dirty="0" smtClean="0"/>
              <a:t>);</a:t>
            </a:r>
          </a:p>
          <a:p>
            <a:r>
              <a:rPr lang="bg-BG" dirty="0" smtClean="0"/>
              <a:t>Игнориране на горен и долен регистър (</a:t>
            </a:r>
            <a:r>
              <a:rPr lang="en-US" dirty="0" err="1" smtClean="0"/>
              <a:t>IgnoreCase</a:t>
            </a:r>
            <a:r>
              <a:rPr lang="bg-BG" dirty="0" smtClean="0"/>
              <a:t>)</a:t>
            </a:r>
            <a:r>
              <a:rPr lang="en-US" dirty="0" smtClean="0"/>
              <a:t>:</a:t>
            </a:r>
          </a:p>
          <a:p>
            <a:r>
              <a:rPr lang="en-US" dirty="0"/>
              <a:t> List&lt;Person&gt; </a:t>
            </a:r>
            <a:r>
              <a:rPr lang="en-US" dirty="0" err="1" smtClean="0"/>
              <a:t>findByLastnameAndFirstnameIgnoreCase</a:t>
            </a:r>
            <a:r>
              <a:rPr lang="en-US" dirty="0" smtClean="0"/>
              <a:t>(String </a:t>
            </a:r>
            <a:r>
              <a:rPr lang="en-US" dirty="0" err="1"/>
              <a:t>lastname</a:t>
            </a:r>
            <a:r>
              <a:rPr lang="en-US" dirty="0"/>
              <a:t>, String </a:t>
            </a:r>
            <a:r>
              <a:rPr lang="en-US" dirty="0" err="1"/>
              <a:t>firstname</a:t>
            </a:r>
            <a:r>
              <a:rPr lang="en-US" dirty="0" smtClean="0"/>
              <a:t>);</a:t>
            </a:r>
          </a:p>
          <a:p>
            <a:r>
              <a:rPr lang="bg-BG" dirty="0" smtClean="0"/>
              <a:t>Подреждане (</a:t>
            </a:r>
            <a:r>
              <a:rPr lang="en-US" dirty="0" smtClean="0"/>
              <a:t>Order By</a:t>
            </a:r>
            <a:r>
              <a:rPr lang="bg-BG" dirty="0" smtClean="0"/>
              <a:t>)</a:t>
            </a:r>
            <a:endParaRPr lang="en-US" dirty="0" smtClean="0"/>
          </a:p>
          <a:p>
            <a:r>
              <a:rPr lang="en-US" dirty="0" smtClean="0"/>
              <a:t>List&lt;Person</a:t>
            </a:r>
            <a:r>
              <a:rPr lang="en-US" dirty="0"/>
              <a:t>&gt; </a:t>
            </a:r>
            <a:r>
              <a:rPr lang="en-US" dirty="0" err="1"/>
              <a:t>findByLastnameOrderByFirstnameAsc</a:t>
            </a:r>
            <a:r>
              <a:rPr lang="en-US" dirty="0"/>
              <a:t>(String </a:t>
            </a:r>
            <a:r>
              <a:rPr lang="en-US" dirty="0" err="1"/>
              <a:t>lastname</a:t>
            </a:r>
            <a:r>
              <a:rPr lang="en-US" dirty="0"/>
              <a:t>);</a:t>
            </a:r>
            <a:endParaRPr lang="bg-BG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5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</a:t>
            </a:r>
            <a:r>
              <a:rPr lang="en-US" dirty="0" smtClean="0"/>
              <a:t>Repositories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bg-BG" dirty="0" smtClean="0"/>
              <a:t>Методи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474841"/>
              </p:ext>
            </p:extLst>
          </p:nvPr>
        </p:nvGraphicFramePr>
        <p:xfrm>
          <a:off x="990600" y="1846260"/>
          <a:ext cx="10080171" cy="430648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42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 dirty="0">
                          <a:solidFill>
                            <a:srgbClr val="34302D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>
                          <a:solidFill>
                            <a:srgbClr val="34302D"/>
                          </a:solidFill>
                          <a:effectLst/>
                        </a:rPr>
                        <a:t>Sample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>
                          <a:solidFill>
                            <a:srgbClr val="34302D"/>
                          </a:solidFill>
                          <a:effectLst/>
                        </a:rPr>
                        <a:t>JPQL snippet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91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And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findByLastnameAndFirstname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x.lastname = ?1 and x.firstname = ?2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991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Or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findByLastnameOrFirstname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x.lastname = ?1 or x.firstname = ?2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991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Is,Equals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findByFirstname,findByFirstnameIs,findByFirstnameEquals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x.firstname =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991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Between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findByStartDateBetween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x.startDate between ?1 and ?2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42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LessThan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findByAgeLessThan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x.age &lt;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42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LessThanEqual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findByAgeLessThanEqual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x.age &lt;=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42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GreaterThan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findByAgeGreaterThan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x.age &gt;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42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GreaterThanEqual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findByAgeGreaterThanEqual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&gt;=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46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</a:t>
            </a:r>
            <a:r>
              <a:rPr lang="en-US" dirty="0" smtClean="0"/>
              <a:t>Repositories</a:t>
            </a:r>
            <a:r>
              <a:rPr lang="bg-BG" dirty="0"/>
              <a:t> </a:t>
            </a:r>
            <a:r>
              <a:rPr lang="bg-BG" dirty="0" smtClean="0"/>
              <a:t>- </a:t>
            </a:r>
            <a:r>
              <a:rPr lang="bg-BG" dirty="0"/>
              <a:t>Методи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023843"/>
              </p:ext>
            </p:extLst>
          </p:nvPr>
        </p:nvGraphicFramePr>
        <p:xfrm>
          <a:off x="925286" y="1846262"/>
          <a:ext cx="10570027" cy="4456566"/>
        </p:xfrm>
        <a:graphic>
          <a:graphicData uri="http://schemas.openxmlformats.org/drawingml/2006/table">
            <a:tbl>
              <a:tblPr/>
              <a:tblGrid>
                <a:gridCol w="219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 dirty="0">
                          <a:solidFill>
                            <a:srgbClr val="34302D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>
                          <a:solidFill>
                            <a:srgbClr val="34302D"/>
                          </a:solidFill>
                          <a:effectLst/>
                        </a:rPr>
                        <a:t>Sample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1" dirty="0">
                          <a:solidFill>
                            <a:srgbClr val="34302D"/>
                          </a:solidFill>
                          <a:effectLst/>
                        </a:rPr>
                        <a:t>JPQL snippet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After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findByStartDateAfter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x.startDate &gt;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Before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findByStartDateBefore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x.startDate &lt;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IsNull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findByAgeIsNull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x.age is null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IsNotNull,NotNull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(Is)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NotNull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not null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Like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findByFirstnameLike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x.firstname like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382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NotLike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findByFirstnameNotLike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x.firstname not like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844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StartingWith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findByFirstnameStartingWith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x.firstname like ?1(parameter bound with appended %)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844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EndingWith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findByFirstnameEndingWith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x.firstname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like ?1(parameter bound with prepended %)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9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</a:t>
            </a:r>
            <a:r>
              <a:rPr lang="en-US" dirty="0" smtClean="0"/>
              <a:t>Repositories</a:t>
            </a:r>
            <a:r>
              <a:rPr lang="bg-BG" dirty="0"/>
              <a:t> </a:t>
            </a:r>
            <a:r>
              <a:rPr lang="bg-BG" dirty="0" smtClean="0"/>
              <a:t>- Методи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735230"/>
              </p:ext>
            </p:extLst>
          </p:nvPr>
        </p:nvGraphicFramePr>
        <p:xfrm>
          <a:off x="903515" y="1846260"/>
          <a:ext cx="10776856" cy="4279631"/>
        </p:xfrm>
        <a:graphic>
          <a:graphicData uri="http://schemas.openxmlformats.org/drawingml/2006/table">
            <a:tbl>
              <a:tblPr/>
              <a:tblGrid>
                <a:gridCol w="1513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4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70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Containing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findByFirstnameContaining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x.firstname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like ?1(parameter bound wrapped in %)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9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OrderBy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findByAgeOrderByLastnameDesc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= ?1 order by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x.lastname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desc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83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Not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findByLastnameNot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x.lastname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&lt;&gt;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9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In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findByAgeIn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(Collection&lt;Age&gt; ages)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in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9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NotIn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findByAgeNotIn(Collection&lt;Age&gt; ages)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x.age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not in ?1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83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True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findByActiveTrue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()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x.active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= true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83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False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findByActiveFalse()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x.active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 = false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9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IgnoreCase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findByFirstnameIgnoreCase</a:t>
                      </a:r>
                      <a:endParaRPr lang="en-US" sz="2000" b="0" dirty="0">
                        <a:solidFill>
                          <a:srgbClr val="34302D"/>
                        </a:solidFill>
                        <a:effectLst/>
                        <a:latin typeface="inherit"/>
                      </a:endParaRP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… where UPPER(</a:t>
                      </a:r>
                      <a:r>
                        <a:rPr lang="en-US" sz="2000" b="0" dirty="0" err="1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x.firstame</a:t>
                      </a:r>
                      <a:r>
                        <a:rPr lang="en-US" sz="2000" b="0" dirty="0">
                          <a:solidFill>
                            <a:srgbClr val="34302D"/>
                          </a:solidFill>
                          <a:effectLst/>
                          <a:latin typeface="inherit"/>
                        </a:rPr>
                        <a:t>) = UPPER(?1)</a:t>
                      </a:r>
                    </a:p>
                  </a:txBody>
                  <a:tcPr marL="27743" marR="27743" marT="13871" marB="13871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21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109473</TotalTime>
  <Words>395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Courier New</vt:lpstr>
      <vt:lpstr>inherit</vt:lpstr>
      <vt:lpstr>Wingdings</vt:lpstr>
      <vt:lpstr>Retrospect</vt:lpstr>
      <vt:lpstr>CSCB869 Java Web Services</vt:lpstr>
      <vt:lpstr>Spring Data </vt:lpstr>
      <vt:lpstr>Използване на реална база от данни</vt:lpstr>
      <vt:lpstr>spring.jpa.hibernate.ddl-auto - properties</vt:lpstr>
      <vt:lpstr>Стратегии за създаване на заявки </vt:lpstr>
      <vt:lpstr>Стратегии за създаване на заявки </vt:lpstr>
      <vt:lpstr>JPA Repositories - Методи</vt:lpstr>
      <vt:lpstr>JPA Repositories - Методи</vt:lpstr>
      <vt:lpstr>JPA Repositories - Методи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1394</cp:revision>
  <dcterms:created xsi:type="dcterms:W3CDTF">2018-07-12T12:35:35Z</dcterms:created>
  <dcterms:modified xsi:type="dcterms:W3CDTF">2020-10-09T13:36:06Z</dcterms:modified>
</cp:coreProperties>
</file>