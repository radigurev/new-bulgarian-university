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326" r:id="rId3"/>
    <p:sldId id="329" r:id="rId4"/>
    <p:sldId id="333" r:id="rId5"/>
    <p:sldId id="330" r:id="rId6"/>
    <p:sldId id="331" r:id="rId7"/>
    <p:sldId id="332" r:id="rId8"/>
    <p:sldId id="328" r:id="rId9"/>
    <p:sldId id="30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13.11.2020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11/13/2020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NiRNRgi5Ws" TargetMode="External"/><Relationship Id="rId2" Type="http://schemas.openxmlformats.org/officeDocument/2006/relationships/hyperlink" Target="https://www.youtube.com/watch?v=Wpz6b8ZEgc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qPDheVUyH9k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Съдържание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Тестване на приложения</a:t>
            </a:r>
            <a:r>
              <a:rPr lang="en-US" sz="2400" dirty="0"/>
              <a:t> </a:t>
            </a:r>
            <a:r>
              <a:rPr lang="en-US" sz="2400" dirty="0" smtClean="0"/>
              <a:t>?!?</a:t>
            </a:r>
            <a:endParaRPr lang="bg-BG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bg-BG" sz="2400" dirty="0" smtClean="0"/>
              <a:t>Тестване на хоризонтални част от приложението</a:t>
            </a:r>
            <a:r>
              <a:rPr lang="en-US" sz="2400" dirty="0" smtClean="0"/>
              <a:t> (Testing slices)</a:t>
            </a:r>
            <a:r>
              <a:rPr lang="bg-BG" sz="2400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200" dirty="0" smtClean="0"/>
              <a:t>Слой с хранилища (</a:t>
            </a:r>
            <a:r>
              <a:rPr lang="en-US" sz="2200" dirty="0" smtClean="0"/>
              <a:t>Repository Layer</a:t>
            </a:r>
            <a:r>
              <a:rPr lang="bg-BG" sz="2200" dirty="0" smtClean="0"/>
              <a:t>)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200" dirty="0" smtClean="0"/>
              <a:t>Слой с бизнес услуги (</a:t>
            </a:r>
            <a:r>
              <a:rPr lang="en-US" sz="2200" dirty="0" smtClean="0"/>
              <a:t>Business Service Layer</a:t>
            </a:r>
            <a:r>
              <a:rPr lang="bg-BG" sz="2200" dirty="0" smtClean="0"/>
              <a:t>)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bg-BG" sz="2200" dirty="0" smtClean="0"/>
              <a:t>Слой с контролери (</a:t>
            </a:r>
            <a:r>
              <a:rPr lang="en-US" sz="2200" dirty="0" smtClean="0"/>
              <a:t>Controllers layer</a:t>
            </a:r>
            <a:r>
              <a:rPr lang="bg-BG" sz="2200" dirty="0" smtClean="0"/>
              <a:t>) </a:t>
            </a: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Mocking</a:t>
            </a:r>
          </a:p>
          <a:p>
            <a:pPr>
              <a:buFont typeface="Wingdings" panose="05000000000000000000" pitchFamily="2" charset="2"/>
              <a:buChar char="Ø"/>
            </a:pPr>
            <a:endParaRPr lang="bg-BG" sz="2400" dirty="0" smtClean="0"/>
          </a:p>
          <a:p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 Layer Testing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2150699" y="1871810"/>
            <a:ext cx="7172605" cy="4770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@DataJpaTest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SchoolRepositoryTest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TestEntityManager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testEntityManager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SchoolRepository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findAllByEmptyNameTest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name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"Hristo Botev"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 school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School();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.setName(name);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.setMaxNumberOfStudents(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1500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.setFoundationDate(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LocalDate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6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2020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name =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6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assertThat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.findAllByName(name).size()).isEqualTo(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Repository Layer Testing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96092" y="1836185"/>
            <a:ext cx="5414046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@DataJpaTest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SchoolRepositoryTest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TestEntityManager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testEntityManager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SchoolRepository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findAllByNameTest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name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"Hristo Botev"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 school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School();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.setName(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name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.setMaxNumberOfStudents(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1500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.setFoundationDate(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LocalDate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2020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testEntityManager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.persistAndFlush(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 school2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School();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school2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.setName(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name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school2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.setMaxNumberOfStudents(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1400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school2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.setFoundationDate(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LocalDate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2020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21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testEntityManager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.persistAndFlush(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school2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assertThat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.findAllByName(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name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).size()).isEqualTo(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bg-BG" altLang="bg-B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70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Layer Testing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422469" y="1933366"/>
            <a:ext cx="4701223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@SpringBootTest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@ExtendWith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MockitoExtension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SchoolServiceTest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@MockBean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SchoolRepository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SchoolService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schoolService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getSchoolById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long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schoolId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 school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School();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.setId(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schoolId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Mockito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when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schoolRepository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.findById(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schoolId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.thenReturn(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Optional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SchoolDTO schoolDTO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schoolService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.getSchool(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schoolId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200" b="0" i="1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assertThat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schoolDTO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.getId()).isEqualTo(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</a:t>
            </a: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.getId());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2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bg-BG" altLang="bg-BG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57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Layer Testing (View Controller)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690948" y="1810255"/>
            <a:ext cx="6699270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@ExtendWith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SpringExtension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@WebMvcTest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SchoolController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SchoolControllerTest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@MockBean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SchoolService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schoolService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@MockBean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ModelMapper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modelMapper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@Autowired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MockMvc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mockMvc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searchSchools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mockMvc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.perform(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MockMvcRequestBuilders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1400" b="0" i="1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"/schools/search-schools/"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.andExpect(</a:t>
            </a:r>
            <a:r>
              <a:rPr kumimoji="0" lang="bg-BG" altLang="bg-BG" sz="1400" b="0" i="1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status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().isOk())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.andExpect(</a:t>
            </a:r>
            <a:r>
              <a:rPr kumimoji="0" lang="bg-BG" altLang="bg-BG" sz="1400" b="0" i="1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view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().name(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"/schools/search-schools"</a:t>
            </a: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1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bg-BG" altLang="bg-BG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6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Layer Testing (REST API Controller)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97280" y="1959521"/>
            <a:ext cx="10084525" cy="4778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@ExtendWith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SpringExtension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class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@WebMvcTest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SchoolApiController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class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class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SchoolApiControllerTest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{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@MockBean</a:t>
            </a:r>
            <a:b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private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SchoolService </a:t>
            </a:r>
            <a:r>
              <a:rPr lang="bg-BG" altLang="bg-BG" sz="1050" dirty="0" smtClean="0">
                <a:solidFill>
                  <a:srgbClr val="871094"/>
                </a:solidFill>
                <a:latin typeface="JetBrains Mono"/>
              </a:rPr>
              <a:t>schoolService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@MockBean</a:t>
            </a:r>
            <a:b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private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ModelMapper </a:t>
            </a:r>
            <a:r>
              <a:rPr lang="bg-BG" altLang="bg-BG" sz="1050" dirty="0" smtClean="0">
                <a:solidFill>
                  <a:srgbClr val="871094"/>
                </a:solidFill>
                <a:latin typeface="JetBrains Mono"/>
              </a:rPr>
              <a:t>modelMapper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@Autowired</a:t>
            </a:r>
            <a:b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private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MockMvc </a:t>
            </a:r>
            <a:r>
              <a:rPr lang="bg-BG" altLang="bg-BG" sz="1050" dirty="0" smtClean="0">
                <a:solidFill>
                  <a:srgbClr val="871094"/>
                </a:solidFill>
                <a:latin typeface="JetBrains Mono"/>
              </a:rPr>
              <a:t>mockMvc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@Test</a:t>
            </a:r>
            <a:b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9E880D"/>
                </a:solidFill>
                <a:latin typeface="JetBrains Mono"/>
              </a:rPr>
              <a:t>   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void </a:t>
            </a:r>
            <a:r>
              <a:rPr lang="bg-BG" altLang="bg-BG" sz="1050" dirty="0" smtClean="0">
                <a:solidFill>
                  <a:srgbClr val="00627A"/>
                </a:solidFill>
                <a:latin typeface="JetBrains Mono"/>
              </a:rPr>
              <a:t>getSchoolById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()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throws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Exception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{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long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schoolId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= </a:t>
            </a:r>
            <a:r>
              <a:rPr lang="bg-BG" altLang="bg-BG" sz="1050" dirty="0" smtClean="0">
                <a:solidFill>
                  <a:srgbClr val="1750EB"/>
                </a:solidFill>
                <a:latin typeface="JetBrains Mono"/>
              </a:rPr>
              <a:t>1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SchoolDTO school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= </a:t>
            </a:r>
            <a:r>
              <a:rPr lang="bg-BG" altLang="bg-BG" sz="1050" dirty="0" smtClean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SchoolDTO();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.setId(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schoolId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.setName(</a:t>
            </a:r>
            <a:r>
              <a:rPr lang="bg-BG" altLang="bg-BG" sz="1050" dirty="0" smtClean="0">
                <a:solidFill>
                  <a:srgbClr val="067D17"/>
                </a:solidFill>
                <a:latin typeface="JetBrains Mono"/>
              </a:rPr>
              <a:t>"Hristo Botev"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.setMaxNumberOfStudents(</a:t>
            </a:r>
            <a:r>
              <a:rPr lang="bg-BG" altLang="bg-BG" sz="1050" dirty="0" smtClean="0">
                <a:solidFill>
                  <a:srgbClr val="1750EB"/>
                </a:solidFill>
                <a:latin typeface="JetBrains Mono"/>
              </a:rPr>
              <a:t>1200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.setFoundationDate(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LocalDate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</a:t>
            </a:r>
            <a:r>
              <a:rPr lang="bg-BG" altLang="bg-BG" sz="1050" i="1" dirty="0" smtClean="0">
                <a:solidFill>
                  <a:srgbClr val="080808"/>
                </a:solidFill>
                <a:latin typeface="JetBrains Mono"/>
              </a:rPr>
              <a:t>of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050" dirty="0" smtClean="0">
                <a:solidFill>
                  <a:srgbClr val="1750EB"/>
                </a:solidFill>
                <a:latin typeface="JetBrains Mono"/>
              </a:rPr>
              <a:t>2000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,</a:t>
            </a:r>
            <a:r>
              <a:rPr lang="bg-BG" altLang="bg-BG" sz="1050" dirty="0" smtClean="0">
                <a:solidFill>
                  <a:srgbClr val="1750EB"/>
                </a:solidFill>
                <a:latin typeface="JetBrains Mono"/>
              </a:rPr>
              <a:t>10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,</a:t>
            </a:r>
            <a:r>
              <a:rPr lang="bg-BG" altLang="bg-BG" sz="1050" dirty="0" smtClean="0">
                <a:solidFill>
                  <a:srgbClr val="1750EB"/>
                </a:solidFill>
                <a:latin typeface="JetBrains Mono"/>
              </a:rPr>
              <a:t>20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i="1" dirty="0" smtClean="0">
                <a:solidFill>
                  <a:srgbClr val="080808"/>
                </a:solidFill>
                <a:latin typeface="JetBrains Mono"/>
              </a:rPr>
              <a:t>when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050" dirty="0" smtClean="0">
                <a:solidFill>
                  <a:srgbClr val="871094"/>
                </a:solidFill>
                <a:latin typeface="JetBrains Mono"/>
              </a:rPr>
              <a:t>schoolService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.getSchool(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schoolId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)).thenReturn(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/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bg-BG" altLang="bg-BG" sz="1050" dirty="0" smtClean="0">
                <a:solidFill>
                  <a:srgbClr val="871094"/>
                </a:solidFill>
                <a:latin typeface="JetBrains Mono"/>
              </a:rPr>
              <a:t>mockMvc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.perform(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MockMvcRequestBuilders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.</a:t>
            </a:r>
            <a:r>
              <a:rPr lang="bg-BG" altLang="bg-BG" sz="1050" i="1" dirty="0" smtClean="0">
                <a:solidFill>
                  <a:srgbClr val="080808"/>
                </a:solidFill>
                <a:latin typeface="JetBrains Mono"/>
              </a:rPr>
              <a:t>get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</a:t>
            </a:r>
            <a:r>
              <a:rPr lang="bg-BG" altLang="bg-BG" sz="1050" dirty="0" smtClean="0">
                <a:solidFill>
                  <a:srgbClr val="067D17"/>
                </a:solidFill>
                <a:latin typeface="JetBrains Mono"/>
              </a:rPr>
              <a:t>"/api/schools/" 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+ </a:t>
            </a:r>
            <a:r>
              <a:rPr lang="bg-BG" altLang="bg-BG" sz="1050" dirty="0" smtClean="0">
                <a:solidFill>
                  <a:srgbClr val="000000"/>
                </a:solidFill>
                <a:latin typeface="JetBrains Mono"/>
              </a:rPr>
              <a:t>schoolId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        .andDo(</a:t>
            </a:r>
            <a:r>
              <a:rPr lang="bg-BG" altLang="bg-BG" sz="1050" i="1" dirty="0" smtClean="0">
                <a:solidFill>
                  <a:srgbClr val="080808"/>
                </a:solidFill>
                <a:latin typeface="JetBrains Mono"/>
              </a:rPr>
              <a:t>print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())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            .andExpect(</a:t>
            </a:r>
            <a:r>
              <a:rPr lang="bg-BG" altLang="bg-BG" sz="1050" i="1" dirty="0" smtClean="0">
                <a:solidFill>
                  <a:srgbClr val="080808"/>
                </a:solidFill>
                <a:latin typeface="JetBrains Mono"/>
              </a:rPr>
              <a:t>status</a:t>
            </a: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().isOk());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</a:br>
            <a:r>
              <a:rPr lang="bg-BG" altLang="bg-BG" sz="1050" dirty="0" smtClean="0">
                <a:solidFill>
                  <a:srgbClr val="080808"/>
                </a:solidFill>
                <a:latin typeface="JetBrains Mono"/>
              </a:rPr>
              <a:t>}</a:t>
            </a:r>
            <a:endParaRPr lang="bg-BG" altLang="bg-BG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91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Полезни източници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Spring Boot Testing </a:t>
            </a:r>
            <a:r>
              <a:rPr lang="en-US" sz="2400" dirty="0"/>
              <a:t>-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www.youtube.com/watch?v=Wpz6b8ZEgcU</a:t>
            </a:r>
            <a:r>
              <a:rPr lang="en-US" sz="2400" dirty="0" smtClean="0"/>
              <a:t> </a:t>
            </a:r>
            <a:endParaRPr lang="bg-BG" sz="2400" dirty="0" smtClean="0"/>
          </a:p>
          <a:p>
            <a:pPr marL="0" indent="0">
              <a:buNone/>
            </a:pPr>
            <a:r>
              <a:rPr lang="en-US" sz="2400" dirty="0" smtClean="0"/>
              <a:t>Controller </a:t>
            </a:r>
            <a:r>
              <a:rPr lang="en-US" sz="2400" dirty="0"/>
              <a:t>testing </a:t>
            </a:r>
            <a:r>
              <a:rPr lang="en-US" sz="2400" dirty="0" smtClean="0"/>
              <a:t>- </a:t>
            </a:r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www.youtube.com/watch?v=pNiRNRgi5Ws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Api</a:t>
            </a:r>
            <a:r>
              <a:rPr lang="en-US" sz="2400" dirty="0" smtClean="0"/>
              <a:t> </a:t>
            </a:r>
            <a:r>
              <a:rPr lang="en-US" sz="2400" dirty="0"/>
              <a:t>Controller Testing - </a:t>
            </a:r>
            <a:r>
              <a:rPr lang="en-US" sz="2400" dirty="0">
                <a:hlinkClick r:id="rId4"/>
              </a:rPr>
              <a:t>https://</a:t>
            </a:r>
            <a:r>
              <a:rPr lang="en-US" sz="2400" dirty="0" smtClean="0">
                <a:hlinkClick r:id="rId4"/>
              </a:rPr>
              <a:t>www.youtube.com/watch?v=qPDheVUyH9k</a:t>
            </a:r>
            <a:r>
              <a:rPr lang="en-US" sz="2400" dirty="0" smtClean="0"/>
              <a:t> 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43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110267</TotalTime>
  <Words>125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JetBrains Mono</vt:lpstr>
      <vt:lpstr>Wingdings</vt:lpstr>
      <vt:lpstr>Retrospect</vt:lpstr>
      <vt:lpstr>CSCB869 Java Web Services</vt:lpstr>
      <vt:lpstr>Съдържание</vt:lpstr>
      <vt:lpstr>Repository Layer Testing </vt:lpstr>
      <vt:lpstr>Repository Layer Testing </vt:lpstr>
      <vt:lpstr>Service Layer Testing </vt:lpstr>
      <vt:lpstr>Controller Layer Testing (View Controller)</vt:lpstr>
      <vt:lpstr>Controller Layer Testing (REST API Controller)</vt:lpstr>
      <vt:lpstr>Полезни източници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1433</cp:revision>
  <dcterms:created xsi:type="dcterms:W3CDTF">2018-07-12T12:35:35Z</dcterms:created>
  <dcterms:modified xsi:type="dcterms:W3CDTF">2020-11-13T11:05:15Z</dcterms:modified>
</cp:coreProperties>
</file>