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6"/>
  </p:notesMasterIdLst>
  <p:sldIdLst>
    <p:sldId id="256" r:id="rId2"/>
    <p:sldId id="335" r:id="rId3"/>
    <p:sldId id="339" r:id="rId4"/>
    <p:sldId id="341" r:id="rId5"/>
    <p:sldId id="342" r:id="rId6"/>
    <p:sldId id="343" r:id="rId7"/>
    <p:sldId id="338" r:id="rId8"/>
    <p:sldId id="344" r:id="rId9"/>
    <p:sldId id="326" r:id="rId10"/>
    <p:sldId id="327" r:id="rId11"/>
    <p:sldId id="345" r:id="rId12"/>
    <p:sldId id="328" r:id="rId13"/>
    <p:sldId id="334" r:id="rId14"/>
    <p:sldId id="278" r:id="rId15"/>
  </p:sldIdLst>
  <p:sldSz cx="9144000" cy="5143500" type="screen16x9"/>
  <p:notesSz cx="6858000" cy="9144000"/>
  <p:embeddedFontLst>
    <p:embeddedFont>
      <p:font typeface="Barlow" panose="020B0604020202020204" charset="0"/>
      <p:regular r:id="rId17"/>
      <p:bold r:id="rId18"/>
      <p:italic r:id="rId19"/>
      <p:boldItalic r:id="rId20"/>
    </p:embeddedFont>
    <p:embeddedFont>
      <p:font typeface="Raleway Thin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Barlow Light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9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60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2"/>
          <p:cNvGrpSpPr/>
          <p:nvPr/>
        </p:nvGrpSpPr>
        <p:grpSpPr>
          <a:xfrm>
            <a:off x="7203022" y="48768"/>
            <a:ext cx="1940978" cy="1967336"/>
            <a:chOff x="5122427" y="668001"/>
            <a:chExt cx="3841143" cy="3893303"/>
          </a:xfrm>
        </p:grpSpPr>
        <p:grpSp>
          <p:nvGrpSpPr>
            <p:cNvPr id="64" name="Google Shape;64;p12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65" name="Google Shape;65;p12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2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2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2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2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2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2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2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2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2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2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2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2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2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2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2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2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2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2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2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2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2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2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2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2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2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2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2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2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2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2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2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2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2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2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2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12"/>
            <p:cNvSpPr/>
            <p:nvPr/>
          </p:nvSpPr>
          <p:spPr>
            <a:xfrm>
              <a:off x="6986665" y="3342725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7014156" y="3327342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7014156" y="3298709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7976493" y="3396565"/>
              <a:ext cx="664277" cy="383503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912754" y="3450709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7863331" y="3479190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7813984" y="3507747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7451727" y="3699575"/>
              <a:ext cx="664201" cy="38350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7387988" y="3753643"/>
              <a:ext cx="592922" cy="342381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7338565" y="3782200"/>
              <a:ext cx="581727" cy="33583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7289218" y="3810681"/>
              <a:ext cx="496361" cy="286637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7582329" y="3561435"/>
              <a:ext cx="337202" cy="194645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7800200" y="3687162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8018073" y="3812966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6687910" y="670084"/>
              <a:ext cx="163899" cy="239625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6700339" y="668001"/>
              <a:ext cx="78506" cy="96744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6715688" y="773039"/>
              <a:ext cx="96838" cy="10838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6550295" y="816287"/>
              <a:ext cx="182749" cy="260151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6687493" y="808527"/>
              <a:ext cx="141166" cy="186207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6712641" y="675415"/>
              <a:ext cx="103849" cy="127932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6716857" y="674913"/>
              <a:ext cx="104260" cy="98126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6591681" y="1319278"/>
              <a:ext cx="81988" cy="62539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6592043" y="1339232"/>
              <a:ext cx="81616" cy="42611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6550653" y="1292322"/>
              <a:ext cx="75049" cy="5813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6550998" y="1311512"/>
              <a:ext cx="74752" cy="39022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6578488" y="992358"/>
              <a:ext cx="178709" cy="30823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6627226" y="992967"/>
              <a:ext cx="177917" cy="333745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560953" y="971949"/>
              <a:ext cx="266059" cy="244904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774876" y="827227"/>
              <a:ext cx="92463" cy="32416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792998" y="823141"/>
              <a:ext cx="55907" cy="7110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683350" y="808424"/>
              <a:ext cx="47823" cy="5021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" name="Google Shape;203;p12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avLst/>
                <a:gdLst/>
                <a:ahLst/>
                <a:cxnLst/>
                <a:rect l="l" t="t" r="r" b="b"/>
                <a:pathLst>
                  <a:path w="217597" h="318657" extrusionOk="0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avLst/>
                <a:gdLst/>
                <a:ahLst/>
                <a:cxnLst/>
                <a:rect l="l" t="t" r="r" b="b"/>
                <a:pathLst>
                  <a:path w="40647" h="235450" extrusionOk="0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avLst/>
                <a:gdLst/>
                <a:ahLst/>
                <a:cxnLst/>
                <a:rect l="l" t="t" r="r" b="b"/>
                <a:pathLst>
                  <a:path w="103921" h="128329" extrusionOk="0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avLst/>
                <a:gdLst/>
                <a:ahLst/>
                <a:cxnLst/>
                <a:rect l="l" t="t" r="r" b="b"/>
                <a:pathLst>
                  <a:path w="128622" h="143860" extrusionOk="0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avLst/>
                <a:gdLst/>
                <a:ahLst/>
                <a:cxnLst/>
                <a:rect l="l" t="t" r="r" b="b"/>
                <a:pathLst>
                  <a:path w="187397" h="215209" extrusionOk="0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avLst/>
                <a:gdLst/>
                <a:ahLst/>
                <a:cxnLst/>
                <a:rect l="l" t="t" r="r" b="b"/>
                <a:pathLst>
                  <a:path w="138529" h="170431" extrusionOk="0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avLst/>
                <a:gdLst/>
                <a:ahLst/>
                <a:cxnLst/>
                <a:rect l="l" t="t" r="r" b="b"/>
                <a:pathLst>
                  <a:path w="138474" h="130867" extrusionOk="0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avLst/>
                <a:gdLst/>
                <a:ahLst/>
                <a:cxnLst/>
                <a:rect l="l" t="t" r="r" b="b"/>
                <a:pathLst>
                  <a:path w="93089" h="307779" extrusionOk="0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avLst/>
                <a:gdLst/>
                <a:ahLst/>
                <a:cxnLst/>
                <a:rect l="l" t="t" r="r" b="b"/>
                <a:pathLst>
                  <a:path w="108744" h="83141" extrusionOk="0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56238" extrusionOk="0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avLst/>
                <a:gdLst/>
                <a:ahLst/>
                <a:cxnLst/>
                <a:rect l="l" t="t" r="r" b="b"/>
                <a:pathLst>
                  <a:path w="99827" h="77341" extrusionOk="0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2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avLst/>
                <a:gdLst/>
                <a:ahLst/>
                <a:cxnLst/>
                <a:rect l="l" t="t" r="r" b="b"/>
                <a:pathLst>
                  <a:path w="99536" h="51729" extrusionOk="0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avLst/>
                <a:gdLst/>
                <a:ahLst/>
                <a:cxnLst/>
                <a:rect l="l" t="t" r="r" b="b"/>
                <a:pathLst>
                  <a:path w="213068" h="744450" extrusionOk="0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avLst/>
                <a:gdLst/>
                <a:ahLst/>
                <a:cxnLst/>
                <a:rect l="l" t="t" r="r" b="b"/>
                <a:pathLst>
                  <a:path w="226922" h="495109" extrusionOk="0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avLst/>
                <a:gdLst/>
                <a:ahLst/>
                <a:cxnLst/>
                <a:rect l="l" t="t" r="r" b="b"/>
                <a:pathLst>
                  <a:path w="76263" h="95029" extrusionOk="0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63531" h="66745" extrusionOk="0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2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2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2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avLst/>
                <a:gdLst/>
                <a:ahLst/>
                <a:cxnLst/>
                <a:rect l="l" t="t" r="r" b="b"/>
                <a:pathLst>
                  <a:path w="122876" h="95119" extrusionOk="0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avLst/>
                <a:gdLst/>
                <a:ahLst/>
                <a:cxnLst/>
                <a:rect l="l" t="t" r="r" b="b"/>
                <a:pathLst>
                  <a:path w="122242" h="63751" extrusionOk="0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avLst/>
                <a:gdLst/>
                <a:ahLst/>
                <a:cxnLst/>
                <a:rect l="l" t="t" r="r" b="b"/>
                <a:pathLst>
                  <a:path w="122771" h="91654" extrusionOk="0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avLst/>
                <a:gdLst/>
                <a:ahLst/>
                <a:cxnLst/>
                <a:rect l="l" t="t" r="r" b="b"/>
                <a:pathLst>
                  <a:path w="122230" h="63800" extrusionOk="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2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avLst/>
                <a:gdLst/>
                <a:ahLst/>
                <a:cxnLst/>
                <a:rect l="l" t="t" r="r" b="b"/>
                <a:pathLst>
                  <a:path w="211613" h="606004" extrusionOk="0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2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avLst/>
                <a:gdLst/>
                <a:ahLst/>
                <a:cxnLst/>
                <a:rect l="l" t="t" r="r" b="b"/>
                <a:pathLst>
                  <a:path w="135319" h="132132" extrusionOk="0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avLst/>
                <a:gdLst/>
                <a:ahLst/>
                <a:cxnLst/>
                <a:rect l="l" t="t" r="r" b="b"/>
                <a:pathLst>
                  <a:path w="192267" h="377666" extrusionOk="0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avLst/>
                <a:gdLst/>
                <a:ahLst/>
                <a:cxnLst/>
                <a:rect l="l" t="t" r="r" b="b"/>
                <a:pathLst>
                  <a:path w="219367" h="442443" extrusionOk="0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2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avLst/>
                <a:gdLst/>
                <a:ahLst/>
                <a:cxnLst/>
                <a:rect l="l" t="t" r="r" b="b"/>
                <a:pathLst>
                  <a:path w="146094" h="177613" extrusionOk="0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avLst/>
                <a:gdLst/>
                <a:ahLst/>
                <a:cxnLst/>
                <a:rect l="l" t="t" r="r" b="b"/>
                <a:pathLst>
                  <a:path w="154031" h="152067" extrusionOk="0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avLst/>
                <a:gdLst/>
                <a:ahLst/>
                <a:cxnLst/>
                <a:rect l="l" t="t" r="r" b="b"/>
                <a:pathLst>
                  <a:path w="196972" h="338613" extrusionOk="0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avLst/>
                <a:gdLst/>
                <a:ahLst/>
                <a:cxnLst/>
                <a:rect l="l" t="t" r="r" b="b"/>
                <a:pathLst>
                  <a:path w="228028" h="306609" extrusionOk="0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avLst/>
                <a:gdLst/>
                <a:ahLst/>
                <a:cxnLst/>
                <a:rect l="l" t="t" r="r" b="b"/>
                <a:pathLst>
                  <a:path w="115992" h="56976" extrusionOk="0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avLst/>
                <a:gdLst/>
                <a:ahLst/>
                <a:cxnLst/>
                <a:rect l="l" t="t" r="r" b="b"/>
                <a:pathLst>
                  <a:path w="71478" h="59099" extrusionOk="0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2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avLst/>
                <a:gdLst/>
                <a:ahLst/>
                <a:cxnLst/>
                <a:rect l="l" t="t" r="r" b="b"/>
                <a:pathLst>
                  <a:path w="70866" h="103155" extrusionOk="0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2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avLst/>
                <a:gdLst/>
                <a:ahLst/>
                <a:cxnLst/>
                <a:rect l="l" t="t" r="r" b="b"/>
                <a:pathLst>
                  <a:path w="85975" h="128318" extrusionOk="0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" name="Google Shape;253;p12"/>
            <p:cNvSpPr/>
            <p:nvPr/>
          </p:nvSpPr>
          <p:spPr>
            <a:xfrm>
              <a:off x="7297552" y="1119942"/>
              <a:ext cx="135609" cy="26640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7309787" y="1745656"/>
              <a:ext cx="93295" cy="72283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7310617" y="1769417"/>
              <a:ext cx="92899" cy="48456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7197828" y="1680648"/>
              <a:ext cx="93274" cy="69610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7198064" y="1702707"/>
              <a:ext cx="92850" cy="48456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7221254" y="1360384"/>
              <a:ext cx="326700" cy="394943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7417903" y="1095544"/>
              <a:ext cx="102781" cy="99997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381720" y="1109556"/>
              <a:ext cx="166775" cy="325513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413797" y="991818"/>
              <a:ext cx="110760" cy="134864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17935" y="980032"/>
              <a:ext cx="116886" cy="115512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364000" y="1109861"/>
              <a:ext cx="53839" cy="78361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7794459" y="3551002"/>
              <a:ext cx="540508" cy="312148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824798" y="3491907"/>
              <a:ext cx="469764" cy="181297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794490" y="3623727"/>
              <a:ext cx="41046" cy="82625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8298847" y="3624184"/>
              <a:ext cx="36096" cy="82168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842237" y="3535238"/>
              <a:ext cx="449908" cy="259679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815050" y="3673683"/>
              <a:ext cx="491482" cy="17632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794490" y="3472184"/>
              <a:ext cx="540453" cy="312196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7752377" y="3752957"/>
              <a:ext cx="148877" cy="85976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7787483" y="3773138"/>
              <a:ext cx="113771" cy="106232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7465892" y="3799784"/>
              <a:ext cx="344817" cy="254127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8113340" y="4275363"/>
              <a:ext cx="345579" cy="199519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8345604" y="3658605"/>
              <a:ext cx="79241" cy="172485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8356722" y="3587657"/>
              <a:ext cx="56961" cy="109603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8165307" y="4346248"/>
              <a:ext cx="122882" cy="68919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8165313" y="4357988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8255166" y="4305930"/>
              <a:ext cx="122882" cy="68953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8255174" y="4317703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8198325" y="3858200"/>
              <a:ext cx="179678" cy="5072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8224549" y="3442293"/>
              <a:ext cx="130417" cy="208730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8197056" y="3589895"/>
              <a:ext cx="200560" cy="332104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8000839" y="3631642"/>
              <a:ext cx="254644" cy="198374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8187055" y="3627341"/>
              <a:ext cx="77484" cy="113419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8224358" y="3433131"/>
              <a:ext cx="126435" cy="139356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12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90" name="Google Shape;290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2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96" name="Google Shape;296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1" name="Google Shape;301;p12"/>
            <p:cNvSpPr/>
            <p:nvPr/>
          </p:nvSpPr>
          <p:spPr>
            <a:xfrm>
              <a:off x="7451033" y="1163186"/>
              <a:ext cx="126280" cy="353110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7509451" y="1160411"/>
              <a:ext cx="72725" cy="98625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" name="Google Shape;303;p12"/>
            <p:cNvGrpSpPr/>
            <p:nvPr/>
          </p:nvGrpSpPr>
          <p:grpSpPr>
            <a:xfrm flipH="1">
              <a:off x="8183210" y="2407472"/>
              <a:ext cx="780360" cy="1195999"/>
              <a:chOff x="3975528" y="3303922"/>
              <a:chExt cx="780360" cy="1195999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311" extrusionOk="0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1032319" extrusionOk="0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2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501" extrusionOk="0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2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688" h="721899" extrusionOk="0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2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399097" extrusionOk="0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2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avLst/>
                <a:gdLst/>
                <a:ahLst/>
                <a:cxnLst/>
                <a:rect l="l" t="t" r="r" b="b"/>
                <a:pathLst>
                  <a:path w="154251" h="303342" extrusionOk="0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avLst/>
                <a:gdLst/>
                <a:ahLst/>
                <a:cxnLst/>
                <a:rect l="l" t="t" r="r" b="b"/>
                <a:pathLst>
                  <a:path w="106588" h="82319" extrusionOk="0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avLst/>
                <a:gdLst/>
                <a:ahLst/>
                <a:cxnLst/>
                <a:rect l="l" t="t" r="r" b="b"/>
                <a:pathLst>
                  <a:path w="106123" h="55368" extrusionOk="0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2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106576" h="79516" extrusionOk="0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avLst/>
                <a:gdLst/>
                <a:ahLst/>
                <a:cxnLst/>
                <a:rect l="l" t="t" r="r" b="b"/>
                <a:pathLst>
                  <a:path w="106154" h="55320" extrusionOk="0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2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avLst/>
                <a:gdLst/>
                <a:ahLst/>
                <a:cxnLst/>
                <a:rect l="l" t="t" r="r" b="b"/>
                <a:pathLst>
                  <a:path w="372536" h="450662" extrusionOk="0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avLst/>
                <a:gdLst/>
                <a:ahLst/>
                <a:cxnLst/>
                <a:rect l="l" t="t" r="r" b="b"/>
                <a:pathLst>
                  <a:path w="117160" h="114020" extrusionOk="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2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avLst/>
                <a:gdLst/>
                <a:ahLst/>
                <a:cxnLst/>
                <a:rect l="l" t="t" r="r" b="b"/>
                <a:pathLst>
                  <a:path w="189574" h="370837" extrusionOk="0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2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avLst/>
                <a:gdLst/>
                <a:ahLst/>
                <a:cxnLst/>
                <a:rect l="l" t="t" r="r" b="b"/>
                <a:pathLst>
                  <a:path w="126365" h="153696" extrusionOk="0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avLst/>
                <a:gdLst/>
                <a:ahLst/>
                <a:cxnLst/>
                <a:rect l="l" t="t" r="r" b="b"/>
                <a:pathLst>
                  <a:path w="133256" h="131805" extrusionOk="0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avLst/>
                <a:gdLst/>
                <a:ahLst/>
                <a:cxnLst/>
                <a:rect l="l" t="t" r="r" b="b"/>
                <a:pathLst>
                  <a:path w="61436" h="88868" extrusionOk="0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0" name="Google Shape;330;p12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31" name="Google Shape;331;p12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99" h="174500" extrusionOk="0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2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73" h="45815" extrusionOk="0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12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09" h="118292" extrusionOk="0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12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22" h="244320" extrusionOk="0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2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421" h="245364" extrusionOk="0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6" name="Google Shape;336;p12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avLst/>
                <a:gdLst/>
                <a:ahLst/>
                <a:cxnLst/>
                <a:rect l="l" t="t" r="r" b="b"/>
                <a:pathLst>
                  <a:path w="143174" h="402337" extrusionOk="0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avLst/>
                <a:gdLst/>
                <a:ahLst/>
                <a:cxnLst/>
                <a:rect l="l" t="t" r="r" b="b"/>
                <a:pathLst>
                  <a:path w="82772" h="112806" extrusionOk="0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841941" y="1627563"/>
            <a:ext cx="6535962" cy="18423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dirty="0" smtClean="0"/>
              <a:t>Reactive Programming</a:t>
            </a:r>
            <a:br>
              <a:rPr lang="en" dirty="0" smtClean="0"/>
            </a:br>
            <a:r>
              <a:rPr lang="en" dirty="0"/>
              <a:t>Spring </a:t>
            </a:r>
            <a:r>
              <a:rPr lang="en" dirty="0" smtClean="0"/>
              <a:t>Webflux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Programming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86785" y="1534714"/>
            <a:ext cx="7711284" cy="310434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Asynchronous</a:t>
            </a:r>
          </a:p>
          <a:p>
            <a:r>
              <a:rPr lang="en-US" sz="2400" dirty="0" smtClean="0"/>
              <a:t>Non-blocking</a:t>
            </a:r>
          </a:p>
          <a:p>
            <a:r>
              <a:rPr lang="en-US" sz="2400" dirty="0" smtClean="0"/>
              <a:t>Push-Pull based </a:t>
            </a:r>
            <a:r>
              <a:rPr lang="en-US" sz="2400" dirty="0"/>
              <a:t>D</a:t>
            </a:r>
            <a:r>
              <a:rPr lang="en-US" sz="2400" dirty="0" smtClean="0"/>
              <a:t>ata Streams Model</a:t>
            </a:r>
          </a:p>
          <a:p>
            <a:r>
              <a:rPr lang="en-US" sz="2400" dirty="0" smtClean="0"/>
              <a:t>Event/Message driven Stream</a:t>
            </a:r>
          </a:p>
          <a:p>
            <a:r>
              <a:rPr lang="en-US" sz="2400" dirty="0" smtClean="0"/>
              <a:t>Functional Programming Style</a:t>
            </a:r>
          </a:p>
          <a:p>
            <a:r>
              <a:rPr lang="en-US" sz="2400" dirty="0" smtClean="0"/>
              <a:t>Backpressure on Data Streams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005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Streams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86785" y="1534714"/>
            <a:ext cx="7711284" cy="278909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Publisher</a:t>
            </a:r>
          </a:p>
          <a:p>
            <a:r>
              <a:rPr lang="en-US" sz="2400" dirty="0" smtClean="0"/>
              <a:t>Subscriber</a:t>
            </a:r>
          </a:p>
          <a:p>
            <a:r>
              <a:rPr lang="en-US" sz="2400" dirty="0" smtClean="0"/>
              <a:t>Subscription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152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Streams - Publisher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1260977" y="4302298"/>
            <a:ext cx="7711284" cy="27890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52272" y="1385419"/>
            <a:ext cx="5053584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JetBrains Mono"/>
              </a:rPr>
              <a:t>Publisher is the Data Source – DB, External Service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interface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Publisher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subscribe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Subscriber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super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s);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1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Streams - Subscriber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1260977" y="4302298"/>
            <a:ext cx="7711284" cy="27890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00373" y="1140810"/>
            <a:ext cx="5283819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smtClean="0">
                <a:solidFill>
                  <a:schemeClr val="tx1"/>
                </a:solidFill>
                <a:latin typeface="JetBrains Mono"/>
              </a:rPr>
              <a:t>Represents the application that needs the data resource</a:t>
            </a:r>
            <a:endParaRPr lang="en-US" altLang="en-US" sz="1600" dirty="0">
              <a:solidFill>
                <a:schemeClr val="tx1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interface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Subscriber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onSubscribe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Subscription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s);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onNext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E8A"/>
                </a:solidFill>
                <a:effectLst/>
                <a:latin typeface="JetBrains Mono"/>
              </a:rPr>
              <a:t>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t);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onError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Throwable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t);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onComplete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09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Streams - Subscription</a:t>
            </a:r>
            <a:endParaRPr lang="bg-BG" sz="44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82186" y="1623102"/>
            <a:ext cx="7122463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Makes the connection between the Data Source and the Application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interface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Subscription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request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long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n);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cancel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96998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Programming</a:t>
            </a:r>
            <a:endParaRPr lang="bg-BG" sz="4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393" y="1855470"/>
            <a:ext cx="57245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9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Reactive Programming</a:t>
            </a:r>
            <a:endParaRPr lang="bg-BG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65" y="1672590"/>
            <a:ext cx="572452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Spring Webflux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86785" y="1534714"/>
            <a:ext cx="7711284" cy="2789092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639185" y="1687114"/>
            <a:ext cx="7711284" cy="278909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Used to build reactive REST APIs</a:t>
            </a:r>
          </a:p>
          <a:p>
            <a:r>
              <a:rPr lang="en-US" sz="2400" dirty="0" smtClean="0"/>
              <a:t>Uses Project Reactor</a:t>
            </a:r>
          </a:p>
          <a:p>
            <a:pPr lvl="1"/>
            <a:r>
              <a:rPr lang="en-US" sz="2400" dirty="0" smtClean="0"/>
              <a:t>Project Reactor Uses two Reactor Types</a:t>
            </a:r>
          </a:p>
          <a:p>
            <a:pPr lvl="2"/>
            <a:r>
              <a:rPr lang="en-US" sz="2400" dirty="0" smtClean="0"/>
              <a:t>Mono</a:t>
            </a:r>
          </a:p>
          <a:p>
            <a:pPr lvl="2"/>
            <a:r>
              <a:rPr lang="en-US" sz="2400" dirty="0" smtClean="0"/>
              <a:t>Flux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256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Project Reactor Mono</a:t>
            </a:r>
            <a:endParaRPr lang="bg-BG" sz="4400" dirty="0"/>
          </a:p>
        </p:txBody>
      </p:sp>
      <p:sp>
        <p:nvSpPr>
          <p:cNvPr id="5" name="Rectangle 4"/>
          <p:cNvSpPr/>
          <p:nvPr/>
        </p:nvSpPr>
        <p:spPr>
          <a:xfrm>
            <a:off x="384048" y="4742444"/>
            <a:ext cx="66385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https://projectreactor.io/docs/core/release/api/reactor/core/publisher/Mono.html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2" y="1330859"/>
            <a:ext cx="6269312" cy="317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6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Project Reactor Flux</a:t>
            </a:r>
            <a:endParaRPr lang="bg-BG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29" y="1227425"/>
            <a:ext cx="6703418" cy="32165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38829" y="4670991"/>
            <a:ext cx="72578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https://projectreactor.io/docs/core/release/api/reactor/core/publisher/Flux.html</a:t>
            </a:r>
          </a:p>
        </p:txBody>
      </p:sp>
    </p:spTree>
    <p:extLst>
      <p:ext uri="{BB962C8B-B14F-4D97-AF65-F5344CB8AC3E}">
        <p14:creationId xmlns:p14="http://schemas.microsoft.com/office/powerpoint/2010/main" val="324005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" sz="4400" dirty="0" smtClean="0"/>
              <a:t>Transform Data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38345" y="1428524"/>
            <a:ext cx="7711284" cy="3633122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f</a:t>
            </a:r>
            <a:r>
              <a:rPr lang="en-US" sz="2400" dirty="0" smtClean="0"/>
              <a:t>ilter()</a:t>
            </a:r>
          </a:p>
          <a:p>
            <a:r>
              <a:rPr lang="en-US" sz="2400" dirty="0" smtClean="0"/>
              <a:t>map()</a:t>
            </a:r>
          </a:p>
          <a:p>
            <a:r>
              <a:rPr lang="en-US" sz="2400" dirty="0" err="1" smtClean="0"/>
              <a:t>flatMap</a:t>
            </a:r>
            <a:r>
              <a:rPr lang="en-US" sz="2400" dirty="0" smtClean="0"/>
              <a:t>()</a:t>
            </a:r>
          </a:p>
          <a:p>
            <a:r>
              <a:rPr lang="en-US" sz="2400" dirty="0" err="1" smtClean="0"/>
              <a:t>concatMap</a:t>
            </a:r>
            <a:r>
              <a:rPr lang="en-US" sz="2400" dirty="0" smtClean="0"/>
              <a:t>()</a:t>
            </a:r>
          </a:p>
          <a:p>
            <a:r>
              <a:rPr lang="en-US" sz="2400" dirty="0"/>
              <a:t>t</a:t>
            </a:r>
            <a:r>
              <a:rPr lang="en-US" sz="2400" dirty="0" smtClean="0"/>
              <a:t>ransform()</a:t>
            </a:r>
          </a:p>
          <a:p>
            <a:r>
              <a:rPr lang="en-US" sz="2400" dirty="0" err="1" smtClean="0"/>
              <a:t>concat</a:t>
            </a:r>
            <a:r>
              <a:rPr lang="en-US" sz="2400" dirty="0" smtClean="0"/>
              <a:t>() and </a:t>
            </a:r>
            <a:r>
              <a:rPr lang="en-US" sz="2400" dirty="0" err="1" smtClean="0"/>
              <a:t>concatWith</a:t>
            </a:r>
            <a:r>
              <a:rPr lang="en-US" sz="2400" dirty="0" smtClean="0"/>
              <a:t>()</a:t>
            </a:r>
          </a:p>
          <a:p>
            <a:r>
              <a:rPr lang="en-US" sz="2400" dirty="0" smtClean="0"/>
              <a:t>merge() and </a:t>
            </a:r>
            <a:r>
              <a:rPr lang="en-US" sz="2400" dirty="0" err="1" smtClean="0"/>
              <a:t>mergeWith</a:t>
            </a:r>
            <a:r>
              <a:rPr lang="en-US" sz="2400" dirty="0" smtClean="0"/>
              <a:t>()</a:t>
            </a:r>
          </a:p>
          <a:p>
            <a:r>
              <a:rPr lang="en-US" sz="2400" dirty="0"/>
              <a:t>z</a:t>
            </a:r>
            <a:r>
              <a:rPr lang="en-US" sz="2400" dirty="0" smtClean="0"/>
              <a:t>ip() and </a:t>
            </a:r>
            <a:r>
              <a:rPr lang="en-US" sz="2400" dirty="0" err="1" smtClean="0"/>
              <a:t>zipWith</a:t>
            </a:r>
            <a:r>
              <a:rPr lang="en-US" sz="2400" dirty="0" smtClean="0"/>
              <a:t>()</a:t>
            </a:r>
            <a:endParaRPr lang="en-US" sz="2400" dirty="0" smtClean="0"/>
          </a:p>
          <a:p>
            <a:r>
              <a:rPr lang="en-US" sz="2400" dirty="0" err="1" smtClean="0"/>
              <a:t>defaultIfEmpty</a:t>
            </a:r>
            <a:r>
              <a:rPr lang="en-US" sz="2400" dirty="0" smtClean="0"/>
              <a:t>() and </a:t>
            </a:r>
            <a:r>
              <a:rPr lang="en-US" sz="2400" dirty="0" err="1" smtClean="0"/>
              <a:t>switchIfEmpty</a:t>
            </a:r>
            <a:r>
              <a:rPr lang="en-US" sz="2400" dirty="0" smtClean="0"/>
              <a:t>()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658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45" y="662161"/>
            <a:ext cx="8705655" cy="668698"/>
          </a:xfrm>
        </p:spPr>
        <p:txBody>
          <a:bodyPr/>
          <a:lstStyle/>
          <a:p>
            <a:r>
              <a:rPr lang="en-US" sz="4400" dirty="0" err="1" smtClean="0"/>
              <a:t>WebClient</a:t>
            </a:r>
            <a:endParaRPr lang="bg-BG" sz="4400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86785" y="1534714"/>
            <a:ext cx="7711284" cy="32628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Reactive </a:t>
            </a:r>
            <a:r>
              <a:rPr lang="en-US" sz="2400" dirty="0"/>
              <a:t>N</a:t>
            </a:r>
            <a:r>
              <a:rPr lang="en-US" sz="2400" dirty="0" smtClean="0"/>
              <a:t>on-blocking REST Client</a:t>
            </a:r>
          </a:p>
          <a:p>
            <a:r>
              <a:rPr lang="en-US" sz="2400" dirty="0" smtClean="0"/>
              <a:t>Functional Style</a:t>
            </a:r>
          </a:p>
          <a:p>
            <a:r>
              <a:rPr lang="en-US" sz="2400" dirty="0" smtClean="0"/>
              <a:t>Exception Handling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842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2077" name="Google Shape;2077;p34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2078" name="Google Shape;2078;p3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3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3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3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3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3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3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3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3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3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3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3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5" name="Google Shape;2135;p3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2136" name="Google Shape;2136;p3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2137" name="Google Shape;2137;p3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8" name="Google Shape;2138;p3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9" name="Google Shape;2139;p3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40" name="Google Shape;2140;p3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2141" name="Google Shape;2141;p3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2" name="Google Shape;2142;p3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43" name="Google Shape;2143;p3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4" name="Google Shape;2144;p3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5" name="Google Shape;2145;p3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6" name="Google Shape;2146;p3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7" name="Google Shape;2147;p3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8" name="Google Shape;2148;p3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9" name="Google Shape;2149;p3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0" name="Google Shape;2150;p3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1" name="Google Shape;2151;p3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2" name="Google Shape;2152;p3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3" name="Google Shape;2153;p3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4" name="Google Shape;2154;p3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5" name="Google Shape;2155;p3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6" name="Google Shape;2156;p3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7" name="Google Shape;2157;p3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8" name="Google Shape;2158;p3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9" name="Google Shape;2159;p3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0" name="Google Shape;2160;p3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1" name="Google Shape;2161;p3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2" name="Google Shape;2162;p3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3" name="Google Shape;2163;p3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4" name="Google Shape;2164;p3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5" name="Google Shape;2165;p3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6" name="Google Shape;2166;p3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7" name="Google Shape;2167;p3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8" name="Google Shape;2168;p3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9" name="Google Shape;2169;p3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0" name="Google Shape;2170;p3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3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2" name="Google Shape;2172;p3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3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3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5" name="Google Shape;2175;p3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6" name="Google Shape;2176;p3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7" name="Google Shape;2177;p3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8" name="Google Shape;2178;p3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9" name="Google Shape;2179;p3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0" name="Google Shape;2180;p3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1" name="Google Shape;2181;p3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2" name="Google Shape;2182;p3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3" name="Google Shape;2183;p3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4" name="Google Shape;2184;p3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5" name="Google Shape;2185;p3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6" name="Google Shape;2186;p3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7" name="Google Shape;2187;p3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8" name="Google Shape;2188;p3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9" name="Google Shape;2189;p3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0" name="Google Shape;2190;p3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1" name="Google Shape;2191;p3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2" name="Google Shape;2192;p3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3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3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5" name="Google Shape;2195;p3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3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7" name="Google Shape;2197;p3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8" name="Google Shape;2198;p3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9" name="Google Shape;2199;p3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0" name="Google Shape;2200;p3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1" name="Google Shape;2201;p3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2" name="Google Shape;2202;p3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3" name="Google Shape;2203;p3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4" name="Google Shape;2204;p3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5" name="Google Shape;2205;p3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6" name="Google Shape;2206;p3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7" name="Google Shape;2207;p3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2208" name="Google Shape;2208;p3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2209" name="Google Shape;2209;p3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0" name="Google Shape;2210;p3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1" name="Google Shape;2211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2" name="Google Shape;2212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3" name="Google Shape;2213;p3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14" name="Google Shape;2214;p3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5" name="Google Shape;2215;p3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6" name="Google Shape;2216;p3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217" name="Google Shape;2217;p3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3" name="Google Shape;2223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2224" name="Google Shape;2224;p34"/>
          <p:cNvSpPr txBox="1">
            <a:spLocks noGrp="1"/>
          </p:cNvSpPr>
          <p:nvPr>
            <p:ph type="subTitle" idx="4294967295"/>
          </p:nvPr>
        </p:nvSpPr>
        <p:spPr>
          <a:xfrm>
            <a:off x="685799" y="2021059"/>
            <a:ext cx="4437167" cy="157559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Any questions?</a:t>
            </a:r>
            <a:endParaRPr sz="3600" b="1" dirty="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You can find me at: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 dirty="0" smtClean="0"/>
              <a:t>hkostadinova@gmail.com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13960</TotalTime>
  <Words>169</Words>
  <Application>Microsoft Office PowerPoint</Application>
  <PresentationFormat>On-screen Show (16:9)</PresentationFormat>
  <Paragraphs>62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Barlow</vt:lpstr>
      <vt:lpstr>Arial</vt:lpstr>
      <vt:lpstr>Raleway Thin</vt:lpstr>
      <vt:lpstr>JetBrains Mono</vt:lpstr>
      <vt:lpstr>Calibri</vt:lpstr>
      <vt:lpstr>Barlow Light</vt:lpstr>
      <vt:lpstr>Gaoler template</vt:lpstr>
      <vt:lpstr>Reactive Programming Spring Webflux</vt:lpstr>
      <vt:lpstr>Reactive Programming</vt:lpstr>
      <vt:lpstr>Reactive Streams</vt:lpstr>
      <vt:lpstr>Reactive Streams - Publisher</vt:lpstr>
      <vt:lpstr>Reactive Streams - Subscriber</vt:lpstr>
      <vt:lpstr>Reactive Streams - Subscription</vt:lpstr>
      <vt:lpstr>Reactive Programming</vt:lpstr>
      <vt:lpstr>Reactive Programming</vt:lpstr>
      <vt:lpstr>Spring Webflux</vt:lpstr>
      <vt:lpstr>Project Reactor Mono</vt:lpstr>
      <vt:lpstr>Project Reactor Flux</vt:lpstr>
      <vt:lpstr>Transform Data</vt:lpstr>
      <vt:lpstr>WebClient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Kostadinova</dc:creator>
  <cp:lastModifiedBy>Kostadinova</cp:lastModifiedBy>
  <cp:revision>220</cp:revision>
  <dcterms:modified xsi:type="dcterms:W3CDTF">2024-02-15T10:41:22Z</dcterms:modified>
</cp:coreProperties>
</file>